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79776"/>
            <a:ext cx="12191695" cy="54864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CS173  ·  数据挖掘  ·  期末项目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400" b="1" i="0">
                <a:solidFill>
                  <a:srgbClr val="FFFFFF"/>
                </a:solidFill>
                <a:latin typeface="Microsoft YaHei"/>
              </a:rPr>
              <a:t>CausalStock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9D6E3"/>
                </a:solidFill>
                <a:latin typeface="Microsoft YaHei"/>
              </a:rPr>
              <a:t>面向新闻驱动股价预测的事件结构化时序因果建模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Microsoft YaHei"/>
              </a:rPr>
              <a:t>数据驱动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3 个 EDA 发现 → 3 个新事件属性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Microsoft YaHei"/>
              </a:rPr>
              <a:t>结构化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20 类结构化事件,而非单一情感分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Microsoft YaHei"/>
              </a:rPr>
              <a:t>诚实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分层 + 时间 双划分报告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0C4"/>
                </a:solidFill>
                <a:latin typeface="Microsoft YaHei"/>
              </a:rPr>
              <a:t>第二组     ·     CS173 期末项目     ·     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汇报目录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618488"/>
            <a:ext cx="54864" cy="64008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554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Microsoft YaHei"/>
              </a:rPr>
              <a:t>问题与创新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75104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Microsoft YaHei"/>
              </a:rPr>
              <a:t>现有方法的问题,以及我们改变的三件事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Microsoft YaHe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761488"/>
            <a:ext cx="54864" cy="64008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697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Microsoft YaHei"/>
              </a:rPr>
              <a:t>框架与数据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118104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Microsoft YaHei"/>
              </a:rPr>
              <a:t>三阶段流程;驱动 schema 设计的探索性数据分析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Microsoft YaHe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3904488"/>
            <a:ext cx="54864" cy="64008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3840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Microsoft YaHei"/>
              </a:rPr>
              <a:t>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261104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Microsoft YaHei"/>
              </a:rPr>
              <a:t>Phase 1 抽取 · Phase 2 因果发现 · Phase 3 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Microsoft YaHei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5047488"/>
            <a:ext cx="54864" cy="64008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4983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Microsoft YaHei"/>
              </a:rPr>
              <a:t>实验与结论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404104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Microsoft YaHei"/>
              </a:rPr>
              <a:t>结果、消融、对比,以及诚实的解读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01  · 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现有方法的三大问题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3748"/>
                </a:solidFill>
                <a:latin typeface="Microsoft YaHei"/>
              </a:rPr>
              <a:t>多数新闻驱动模型把每篇文章压成一个情感分数,由此带来三个问题: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109960" cy="12984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28016" cy="1298448"/>
          </a:xfrm>
          <a:prstGeom prst="rect">
            <a:avLst/>
          </a:prstGeom>
          <a:solidFill>
            <a:srgbClr val="C2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3A5F"/>
                </a:solidFill>
                <a:latin typeface="Microsoft YaHei"/>
              </a:rPr>
              <a:t>1.  信息损失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76856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Microsoft YaHei"/>
              </a:rPr>
              <a:t>单一情感分丢掉了事件的类型、幅度与影响对象。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65960"/>
            <a:ext cx="3291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785"/>
                </a:solidFill>
                <a:latin typeface="Microsoft YaHei"/>
              </a:rPr>
              <a:t>「苹果发布 iPhone,预期上调 20%」→ 情感分 +0.8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64408"/>
            <a:ext cx="11109960" cy="12984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64408"/>
            <a:ext cx="128016" cy="1298448"/>
          </a:xfrm>
          <a:prstGeom prst="rect">
            <a:avLst/>
          </a:prstGeom>
          <a:solidFill>
            <a:srgbClr val="C2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7413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3A5F"/>
                </a:solidFill>
                <a:latin typeface="Microsoft YaHei"/>
              </a:rPr>
              <a:t>2.  缺乏因果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58184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Microsoft YaHei"/>
              </a:rPr>
              <a:t>模型只抓表面相关,不理解事件间逻辑,也无法解释预测。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447288"/>
            <a:ext cx="3291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785"/>
                </a:solidFill>
                <a:latin typeface="Microsoft YaHei"/>
              </a:rPr>
              <a:t>无法区分加息是直接作用还是经由盈利预期间接作用。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45736"/>
            <a:ext cx="11109960" cy="12984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45736"/>
            <a:ext cx="128016" cy="1298448"/>
          </a:xfrm>
          <a:prstGeom prst="rect">
            <a:avLst/>
          </a:prstGeom>
          <a:solidFill>
            <a:srgbClr val="C2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5546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3A5F"/>
                </a:solidFill>
                <a:latin typeface="Microsoft YaHei"/>
              </a:rPr>
              <a:t>3.  忽视时间动态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39512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Microsoft YaHei"/>
              </a:rPr>
              <a:t>把新闻影响当作瞬时的,忽略滞后、扩散与持续发酵。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928616"/>
            <a:ext cx="3291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785"/>
                </a:solidFill>
                <a:latin typeface="Microsoft YaHei"/>
              </a:rPr>
              <a:t>政策变动可能数天后才在价格上显现。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01  ·  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我们改变了什么 —— 三个创新点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3748"/>
                </a:solidFill>
                <a:latin typeface="Microsoft YaHei"/>
              </a:rPr>
              <a:t>现有方法的每个问题,精确对应 CausalStock 的一项设计改变: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109960" cy="26334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29200"/>
                <a:gridCol w="608076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现有方法的问题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CausalStock 的创新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  <a:latin typeface="Microsoft YaHei"/>
                        </a:rPr>
                        <a:t>信息损失(情感标量)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  <a:latin typeface="Microsoft YaHei"/>
                        </a:rPr>
                        <a:t>结构化事件:(主体,行为,对象,幅度) + 影响画像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  <a:latin typeface="Microsoft YaHei"/>
                        </a:rPr>
                        <a:t>缺乏因果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  <a:latin typeface="Microsoft YaHei"/>
                        </a:rPr>
                        <a:t>在 20 个事件类型上做滞后感知因果发现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  <a:latin typeface="Microsoft YaHei"/>
                        </a:rPr>
                        <a:t>忽视时间动态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  <a:latin typeface="Microsoft YaHei"/>
                        </a:rPr>
                        <a:t>学习滞后矩阵 T_lag 与滞后门控注意力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617720"/>
            <a:ext cx="11109960" cy="146304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731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两条原则贯穿这三点: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</a:rPr>
              <a:t>数据驱动 —— 事件 schema 由语料的实测 EDA 得来,而非预设。  诚实 —— 每个结果都同时在分层划分与时间划分下报告。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01  ·  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端到端技术流程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5</a:t>
            </a:r>
          </a:p>
        </p:txBody>
      </p:sp>
      <p:pic>
        <p:nvPicPr>
          <p:cNvPr id="8" name="Picture 7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1325880"/>
            <a:ext cx="5029200" cy="26829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785"/>
                </a:solidFill>
                <a:latin typeface="Microsoft YaHei"/>
              </a:rPr>
              <a:t>三阶段:抽取结构化事件 → 学习滞后感知的事件类型结构 → 用透明的表格模型预测。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02  ·  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EDA —— 缺失率、重复率、事件密度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6</a:t>
            </a:r>
          </a:p>
        </p:txBody>
      </p:sp>
      <p:pic>
        <p:nvPicPr>
          <p:cNvPr id="8" name="Picture 7" descr="fig_eda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3383280" cy="1804096"/>
          </a:xfrm>
          <a:prstGeom prst="rect">
            <a:avLst/>
          </a:prstGeom>
        </p:spPr>
      </p:pic>
      <p:pic>
        <p:nvPicPr>
          <p:cNvPr id="9" name="Picture 8" descr="fig_eda_c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08760"/>
            <a:ext cx="3566160" cy="192538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5212080"/>
            <a:ext cx="11201400" cy="114300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0096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URL 几乎不缺、publisher/author 大量缺失 → 用 URL 域名做 credibility。88% 价格语言 / 77% 数值线索 → 语料事件密集,做结构化抽取是有依据的。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02  ·  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EDA —— 数据发现驱动 schema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7</a:t>
            </a:r>
          </a:p>
        </p:txBody>
      </p:sp>
      <p:pic>
        <p:nvPicPr>
          <p:cNvPr id="8" name="Picture 7" descr="fig_datadrive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533" y="2468880"/>
            <a:ext cx="6594628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4360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Microsoft YaHei"/>
              </a:rPr>
              <a:t>三个实测特性 —— 29% 重复、68–79% 来源缺失、89% 多范围 —— 各自推导出一个事件属性。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03  ·  方法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Phase 1 —— 结构化事件抽取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532120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结构化事件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e = (类型, 主体, 对象, 幅度)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20 类事件本体(宏观 / 公司 / 知识 / 地缘)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+ 影响画像:极性、意外度、范围、新颖度、可信度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440680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FinBERT + 多头解码器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编码器:ProsusAI/finbert,金融文本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三个头:事件类型、论元跨度、幅度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弱监督:LLM 银标 + 规则/市场校正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2651760" cy="10972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861F"/>
                </a:solidFill>
                <a:latin typeface="Microsoft YaHei"/>
              </a:rPr>
              <a:t>10,901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结构化事件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4434840"/>
            <a:ext cx="2651760" cy="10972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45720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861F"/>
                </a:solidFill>
                <a:latin typeface="Microsoft YaHe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5029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事件类型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4434840"/>
            <a:ext cx="2651760" cy="10972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45720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861F"/>
                </a:solidFill>
                <a:latin typeface="Microsoft YaHei"/>
              </a:rPr>
              <a:t>84.8%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5" y="5029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平均属性覆盖率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3" y="4434840"/>
            <a:ext cx="2651760" cy="10972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3" y="45720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861F"/>
                </a:solidFill>
                <a:latin typeface="Microsoft YaHei"/>
              </a:rPr>
              <a:t>FinBERT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0263" y="5029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编码器骨干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03  ·  方法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事件流 —— 分布与属性覆盖率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9</a:t>
            </a:r>
          </a:p>
        </p:txBody>
      </p:sp>
      <p:pic>
        <p:nvPicPr>
          <p:cNvPr id="8" name="Picture 7" descr="fig_even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383280" cy="1591802"/>
          </a:xfrm>
          <a:prstGeom prst="rect">
            <a:avLst/>
          </a:prstGeom>
        </p:spPr>
      </p:pic>
      <p:pic>
        <p:nvPicPr>
          <p:cNvPr id="9" name="Picture 8" descr="fig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3200400" cy="184141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5074920"/>
            <a:ext cx="11201400" cy="12801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事件类型长尾(前三类 55%)→ 需类别感知训练。极性/范围/新颖度/可信度覆盖约 85%,作为标准属性;意外度稀疏(6.6%),作为高价值指示器处理。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03  ·  方法 —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Phase 2 —— 滞后感知因果发现 (STACD)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212080" cy="43891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目标 —— 两个矩阵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A ∈ (0,1)²⁰ˣ²⁰ —— 事件类型间的有向强度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T_lag —— 预期滞后天数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机制 —— STACD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4800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稀疏时序注意力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时间方向掩码 —— 只允许过去影响未来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滞后感知高斯门 + 因果强度门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NOTEARS 式无环 (DAG) 正则项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5669280" cy="438912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注意力调制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g_ij = exp( -(|t_i-t_j| - T_lag[k_j,k_i])^2 / 2σ^2 )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151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s_ij' = s_ij + log m_ij + log g_ij + log A[k_j,k_i]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1868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α_ij = softmax_j ( s_ij'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822191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</a:rPr>
              <a:t>L = L_pred + λ1·||A||1 + λ_DAG·h(A)^2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7200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C9D6E3"/>
                </a:solidFill>
                <a:latin typeface="Microsoft YaHei"/>
              </a:rPr>
              <a:t>节点是事件类型而非个股 —— 该图为可解释、可迁移的事件链分析而设计。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03  ·  方法 —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Phase 3 —— 问题设定与数据集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2788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输入 → 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300" b="0" i="0">
                <a:solidFill>
                  <a:srgbClr val="243748"/>
                </a:solidFill>
                <a:latin typeface="Microsoft YaHei"/>
              </a:rPr>
              <a:t>最近 32 个新闻事件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300" b="0" i="0">
                <a:solidFill>
                  <a:srgbClr val="243748"/>
                </a:solidFill>
                <a:latin typeface="Microsoft YaHei"/>
              </a:rPr>
              <a:t>30 天 OHLCV 价格窗口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300" b="0" i="0">
                <a:solidFill>
                  <a:srgbClr val="243748"/>
                </a:solidFill>
                <a:latin typeface="Microsoft YaHei"/>
              </a:rPr>
              <a:t>目标股票身份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300" b="0" i="0">
                <a:solidFill>
                  <a:srgbClr val="243748"/>
                </a:solidFill>
                <a:latin typeface="Microsoft YaHei"/>
              </a:rPr>
              <a:t>输出:次日方向,阈值 ±0.5%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94960" cy="2788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三分类分布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F9E74"/>
                </a:solidFill>
                <a:latin typeface="Microsoft YaHei"/>
              </a:rPr>
              <a:t>39.4%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Microsoft YaHei"/>
              </a:rPr>
              <a:t>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3608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C2492F"/>
                </a:solidFill>
                <a:latin typeface="Microsoft YaHei"/>
              </a:rPr>
              <a:t>43.3%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Microsoft YaHei"/>
              </a:rPr>
              <a:t>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9256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9256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6B7785"/>
                </a:solidFill>
                <a:latin typeface="Microsoft YaHei"/>
              </a:rPr>
              <a:t>17.3%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9256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Microsoft YaHei"/>
              </a:rPr>
              <a:t>FLAT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785"/>
                </a:solidFill>
                <a:latin typeface="Microsoft YaHei"/>
              </a:rPr>
              <a:t>FLAT 是少数类 —— 因此主看 macro-F1。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3520440" cy="10972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262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3861F"/>
                </a:solidFill>
                <a:latin typeface="Microsoft YaHei"/>
              </a:rPr>
              <a:t>9,566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0176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个股对齐样本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4389120"/>
            <a:ext cx="3520440" cy="10972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45262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3861F"/>
                </a:solidFill>
                <a:latin typeface="Microsoft YaHei"/>
              </a:rP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500176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只股票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4389120"/>
            <a:ext cx="3520440" cy="10972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45262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3861F"/>
                </a:solidFill>
                <a:latin typeface="Microsoft YaHei"/>
              </a:rPr>
              <a:t>2010–2023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500176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时间跨度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03  ·  方法 —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Phase 3 —— 特征工程与模型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x = [ 价格 ‖ 事件 ‖ 股票身份 ]   —   一个 132 维向量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Microsoft YaHei"/>
              </a:rPr>
              <a:t>价格 28 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YaHei"/>
              </a:rPr>
              <a:t>收益率、波动率、对数成交量、OHLC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1051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Microsoft YaHei"/>
              </a:rPr>
              <a:t>事件 82 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YaHei"/>
              </a:rPr>
              <a:t>类型计数、带符号/绝对幅度和、末事件类型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81051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Microsoft YaHei"/>
              </a:rPr>
              <a:t>股票 22 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YaHei"/>
              </a:rPr>
              <a:t>股票 one-hot 身份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11109960" cy="26974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815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3861F"/>
                </a:solidFill>
                <a:latin typeface="Microsoft YaHei"/>
              </a:rPr>
              <a:t>为什么 Phase 3 用 HistGradientBoosting 而非神经网络?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50" b="0" i="0">
                <a:solidFill>
                  <a:srgbClr val="FFFFFF"/>
                </a:solidFill>
                <a:latin typeface="Microsoft YaHei"/>
              </a:rPr>
              <a:t>异构特征 —— 天然处理计数、比率、one-hot。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50" b="0" i="0">
                <a:solidFill>
                  <a:srgbClr val="FFFFFF"/>
                </a:solidFill>
                <a:latin typeface="Microsoft YaHei"/>
              </a:rPr>
              <a:t>强且可解释的基线 —— 能量化各信息源的贡献。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50" b="0" i="0">
                <a:solidFill>
                  <a:srgbClr val="FFFFFF"/>
                </a:solidFill>
                <a:latin typeface="Microsoft YaHei"/>
              </a:rPr>
              <a:t>树分裂对尺度不敏感 —— 特征工程量小。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50" b="0" i="0">
                <a:solidFill>
                  <a:srgbClr val="C9D6E3"/>
                </a:solidFill>
                <a:latin typeface="Microsoft YaHei"/>
              </a:rPr>
              <a:t>配置:max_iter 150 · learning_rate 0.04 · l2 0.05。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04  ·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核心结果 —— 分层划分 vs 时间划分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13</a:t>
            </a:r>
          </a:p>
        </p:txBody>
      </p:sp>
      <p:pic>
        <p:nvPicPr>
          <p:cNvPr id="8" name="Picture 7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160520" cy="278720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71600"/>
            <a:ext cx="5303520" cy="46177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1790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两个诚实的解读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38528"/>
            <a:ext cx="4892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分层随机 —— macro-F1 0.693、准确率 0.728。明显高于 0.43 多数类与 0.33 随机基线:特征含有效信号。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时间顺序 —— macro-F1 0.337。接近随机,与半强式市场有效一致:前向预测确实难。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6B7785"/>
                </a:solidFill>
                <a:latin typeface="Microsoft YaHei"/>
              </a:rPr>
              <a:t>      </a:t>
            </a:r>
            <a:r>
              <a:rPr sz="1050" b="0" i="0">
                <a:solidFill>
                  <a:srgbClr val="1D3A5F"/>
                </a:solidFill>
                <a:latin typeface="Microsoft YaHei"/>
              </a:rPr>
              <a:t>我们两个都报 —— 只报分层那个数会高估真实预测力。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04  ·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消融实验 —— 各信息源的贡献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3748"/>
                </a:solidFill>
                <a:latin typeface="Microsoft YaHei"/>
              </a:rPr>
              <a:t>组合特征模型在分层随机划分下的 macro-F1: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54480" y="1783080"/>
          <a:ext cx="9052560" cy="1700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52160"/>
                <a:gridCol w="146304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特征集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Macro-F1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43748"/>
                          </a:solidFill>
                          <a:latin typeface="Microsoft YaHei"/>
                        </a:rPr>
                        <a:t>价格 + 事件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3748"/>
                          </a:solidFill>
                          <a:latin typeface="Microsoft YaHei"/>
                        </a:rPr>
                        <a:t>110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3748"/>
                          </a:solidFill>
                          <a:latin typeface="Microsoft YaHei"/>
                        </a:rPr>
                        <a:t>0.684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43748"/>
                          </a:solidFill>
                          <a:latin typeface="Microsoft YaHei"/>
                        </a:rPr>
                        <a:t>完整:价格 + 事件 + 股票身份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3748"/>
                          </a:solidFill>
                          <a:latin typeface="Microsoft YaHei"/>
                        </a:rPr>
                        <a:t>132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3748"/>
                          </a:solidFill>
                          <a:latin typeface="Microsoft YaHei"/>
                        </a:rPr>
                        <a:t>0.693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657600"/>
            <a:ext cx="11109960" cy="21031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1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加入股票身份把 macro-F1 从 0.684 提到 0.693 —— 个股特有的波动与反应模式仍有用。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Microsoft YaHei"/>
              </a:rPr>
              <a:t>组合表示在分层划分下可学习 —— 这是我们汇报的配置。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04  ·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与 NeurIPS 2024 CausalStock 的对比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01400" cy="3017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60320"/>
                <a:gridCol w="4114800"/>
                <a:gridCol w="452628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CausalStock(NeurIPS 2024)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我们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  <a:latin typeface="Microsoft YaHei"/>
                        </a:rPr>
                        <a:t>因果层级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Microsoft YaHei"/>
                        </a:rPr>
                        <a:t>个股级图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Microsoft YaHei"/>
                        </a:rPr>
                        <a:t>事件类型级图(20×20)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  <a:latin typeface="Microsoft YaHei"/>
                        </a:rPr>
                        <a:t>新闻表示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Microsoft YaHei"/>
                        </a:rPr>
                        <a:t>稠密去噪嵌入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Microsoft YaHei"/>
                        </a:rPr>
                        <a:t>结构化事件 + 影响画像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  <a:latin typeface="Microsoft YaHei"/>
                        </a:rPr>
                        <a:t>预测任务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Microsoft YaHei"/>
                        </a:rPr>
                        <a:t>二分类 涨/跌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Microsoft YaHei"/>
                        </a:rPr>
                        <a:t>三分类,带 ±0.5% FLAT 区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  <a:latin typeface="Microsoft YaHei"/>
                        </a:rPr>
                        <a:t>评估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Microsoft YaHei"/>
                        </a:rPr>
                        <a:t>多为随机划分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Microsoft YaHei"/>
                        </a:rPr>
                        <a:t>分层 + 时间 双划分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572000"/>
            <a:ext cx="11201400" cy="141732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3659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Microsoft YaHei"/>
              </a:rPr>
              <a:t>互补,而非竞争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0235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事件类型级因果可跨公司、跨市场迁移;个股级因果绑定在固定股票池。我们采用更严格的双划分评估协议。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04  ·  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总结与未来工作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4297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solidFill>
            <a:srgbClr val="2F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我们的贡献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120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Microsoft YaHei"/>
              </a:rPr>
              <a:t>更清晰的事件结构化问题形式化。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Microsoft YaHei"/>
              </a:rPr>
              <a:t>EDA 驱动的事件 schema —— 属性由实测数据得来。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Microsoft YaHei"/>
              </a:rPr>
              <a:t>数学上明确定义的滞后感知事件因果模型。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Microsoft YaHei"/>
              </a:rPr>
              <a:t>把信息含量与前向可预测性分开的诚实分析。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486400" cy="4297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5486400" cy="45720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未来工作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120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Microsoft YaHei"/>
              </a:rPr>
              <a:t>把 A 与 T_lag 直接作为 Phase-3 特征整合进去。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Microsoft YaHei"/>
              </a:rPr>
              <a:t>建模跨股票的事件传播。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Microsoft YaHei"/>
              </a:rPr>
              <a:t>引入体制感知的时间编码以缓解分布漂移。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Microsoft YaHe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Microsoft YaHei"/>
              </a:rPr>
              <a:t>以滚动前向验证作为默认协议。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Microsoft YaHei"/>
              </a:rPr>
              <a:t>我们不声称解决了股价预测 —— 我们给出的是清晰的形式化,以及结构化新闻在哪里有用的诚实研究。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Microsoft YaHei"/>
              </a:rPr>
              <a:t>致谢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CausalStock  ·  CS173 数据挖掘  ·  第二组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Ya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109960" cy="237744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109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Q &amp; A   —   感谢聆听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0C4"/>
                </a:solidFill>
                <a:latin typeface="Microsoft YaHei"/>
              </a:rPr>
              <a:t>CausalStock  ·  CS173 Data Mining Final  ·  Team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