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79776"/>
            <a:ext cx="12191695" cy="54864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CS173  ·  DATA MINING  ·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 i="0">
                <a:solidFill>
                  <a:srgbClr val="FFFFFF"/>
                </a:solidFill>
                <a:latin typeface="Calibri"/>
              </a:rPr>
              <a:t>CausalStock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9D6E3"/>
                </a:solidFill>
                <a:latin typeface="Calibri"/>
              </a:rPr>
              <a:t>Event-Structured Temporal Causal Modeling for News-Driven Stock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Data-driven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3 EDA findings  →  3 new event attributes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Structured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20-class events, not one sentiment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611880"/>
            <a:ext cx="3383280" cy="1143000"/>
          </a:xfrm>
          <a:prstGeom prst="roundRect">
            <a:avLst/>
          </a:prstGeom>
          <a:solidFill>
            <a:srgbClr val="274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7490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3861F"/>
                </a:solidFill>
                <a:latin typeface="Calibri"/>
              </a:rPr>
              <a:t>Honest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1148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stratified + chronological dual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Calibri"/>
              </a:rPr>
              <a:t>Team 2     ·     CS173 Final Project     ·  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9E2EC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325880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28016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Problem &amp;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82495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Prior-method limits, the CausalStock baseline, our innovations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9E2EC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2295144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249424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Data Analysis (EDA)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A four-part exploratory analysis that drives the event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9E2EC"/>
                </a:solidFill>
                <a:latin typeface="Calibr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264408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218688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21024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Phase 1 extraction · Phase 2 causal discovery · Phase 3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8795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9E2EC"/>
                </a:solidFill>
                <a:latin typeface="Calibri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4233672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187952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Experiments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5902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Stratified vs chronological results, and an ablation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57216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9E2EC"/>
                </a:solidFill>
                <a:latin typeface="Calibri"/>
              </a:rP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5202936"/>
            <a:ext cx="54864" cy="566928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157216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D3A5F"/>
                </a:solidFill>
                <a:latin typeface="Calibri"/>
              </a:rPr>
              <a:t>Comparison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59552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785"/>
                </a:solidFill>
                <a:latin typeface="Calibri"/>
              </a:rPr>
              <a:t>A multi-axis comparison with the baseline,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Prior Methods Get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Calibri"/>
              </a:rPr>
              <a:t>Most news-driven models compress each article into one sentiment score. Three things break: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Calibri"/>
              </a:rPr>
              <a:t>1.  Information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76856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A single sentiment score discards the event's type, magnitude, and affected entity.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Calibri"/>
              </a:rPr>
              <a:t>"Apple launches iPhone, outlook +20%" → sentiment +0.8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64408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64408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74136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Calibri"/>
              </a:rPr>
              <a:t>2.  Lack of Causality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58184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Models capture surface correlation, not the logic between events, and cannot explain a prediction.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447288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Calibri"/>
              </a:rPr>
              <a:t>Cannot tell a rate hike acting directly vs. via earnings.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45736"/>
            <a:ext cx="11109960" cy="12984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45736"/>
            <a:ext cx="128016" cy="1298448"/>
          </a:xfrm>
          <a:prstGeom prst="rect">
            <a:avLst/>
          </a:prstGeom>
          <a:solidFill>
            <a:srgbClr val="C24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55464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3A5F"/>
                </a:solidFill>
                <a:latin typeface="Calibri"/>
              </a:rPr>
              <a:t>3.  Ignoring Temporal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39512"/>
            <a:ext cx="7132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3748"/>
                </a:solidFill>
                <a:latin typeface="Calibri"/>
              </a:rPr>
              <a:t>A news impact is treated as instantaneous — missing lag, diffusion, and gradual effects.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928616"/>
            <a:ext cx="32918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785"/>
                </a:solidFill>
                <a:latin typeface="Calibri"/>
              </a:rPr>
              <a:t>A policy change may surface in prices only days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Baseline — CausalStock (NeurIPS 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What the baseline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64208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64208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Denoised news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3748"/>
                </a:solidFill>
                <a:latin typeface="Calibri"/>
              </a:rPr>
              <a:t>An LLM compresses each article into one dense embedding vector.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64208"/>
            <a:ext cx="5349240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64208"/>
            <a:ext cx="109728" cy="1051560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7393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Stock-level causal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2140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43748"/>
                </a:solidFill>
                <a:latin typeface="Calibri"/>
              </a:rPr>
              <a:t>Lag-dependent causality is learned between individual stocks.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3861F"/>
                </a:solidFill>
                <a:latin typeface="Calibri"/>
              </a:rPr>
              <a:t>Two blind spots — and our response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3310128"/>
          <a:ext cx="11109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32120"/>
                <a:gridCol w="55778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Baseline blind spot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CausalStock (ours) response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Calibri"/>
                        </a:rPr>
                        <a:t>One vector per article hides event type, magnitude, entity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Calibri"/>
                        </a:rPr>
                        <a:t>A structured event: (S,A,O,M) + impact profile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43748"/>
                          </a:solidFill>
                          <a:latin typeface="Calibri"/>
                        </a:rPr>
                        <a:t>A stock-level graph cannot say what kind of event drove a link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43748"/>
                          </a:solidFill>
                          <a:latin typeface="Calibri"/>
                        </a:rPr>
                        <a:t>A causal graph over 20 event types, transferable across firms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48640" y="5257800"/>
            <a:ext cx="11109960" cy="8686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2239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Takeaway: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the baseline is strong but structure-blind — we restore event structure and move causality to the event-type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We Change — Three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Calibri"/>
              </a:rPr>
              <a:t>Each prior-method problem maps to one design change: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91640"/>
          <a:ext cx="11109960" cy="26334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29200"/>
                <a:gridCol w="608076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Prior-method problem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CausalStock innovation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Calibri"/>
                        </a:rPr>
                        <a:t>Information loss (sentiment scalar)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Calibri"/>
                        </a:rPr>
                        <a:t>Structured event: (S, A, O, magnitude) + impact profile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Calibri"/>
                        </a:rPr>
                        <a:t>Lack of causality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Calibri"/>
                        </a:rPr>
                        <a:t>Lag-aware causal discovery over 20 event types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43748"/>
                          </a:solidFill>
                          <a:latin typeface="Calibri"/>
                        </a:rPr>
                        <a:t>Ignoring temporal dynamics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43748"/>
                          </a:solidFill>
                          <a:latin typeface="Calibri"/>
                        </a:rPr>
                        <a:t>A learned lag matrix T_lag and lag-gated attention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617720"/>
            <a:ext cx="11109960" cy="14630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77316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Two principles cut across all three: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Data-driven — the event schema is earned from a measured EDA, not assumed.   Honest — every result is reported under both a stratified and a chronological 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01  · 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47" y="1325880"/>
            <a:ext cx="5029200" cy="26829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Calibri"/>
              </a:rPr>
              <a:t>Three stages: extract structured events, learn lag-aware event-type structure, predict with a transparent tabular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DATA ANALYSIS 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Dataset Snapshot &amp; Field Completeness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37160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10,901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structured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29968" y="1371600"/>
            <a:ext cx="137160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4904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9,566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ticker-aligned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1371600"/>
            <a:ext cx="137160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4904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2624" y="1371600"/>
            <a:ext cx="137160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4904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2010–23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93852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time span</a:t>
            </a:r>
          </a:p>
        </p:txBody>
      </p:sp>
      <p:pic>
        <p:nvPicPr>
          <p:cNvPr id="20" name="Picture 19" descr="fig_eda_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3200400" cy="170657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858000" y="1371600"/>
            <a:ext cx="4846320" cy="46177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5179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938528"/>
            <a:ext cx="448056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URL present 99.98%, Stock_symbol 67%, Author 32%, Publisher 21%.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00" b="0" i="0">
                <a:solidFill>
                  <a:srgbClr val="243748"/>
                </a:solidFill>
                <a:latin typeface="Calibri"/>
              </a:rPr>
              <a:t>→ publisher / author too sparse to supervise on; credibility instead comes from the URL domain.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Duplicate-headline rows: 36,248 (~29%).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00" b="0" i="0">
                <a:solidFill>
                  <a:srgbClr val="243748"/>
                </a:solidFill>
                <a:latin typeface="Calibri"/>
              </a:rPr>
              <a:t>→ the same event reported many times; motivates a novelty attribute.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Article length: median 3,724 / p90 6,949 / p99 29,925 chars.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DATA ANALYSIS 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Event-Clue Density — Why Event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fig_eda_c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3931920" cy="2122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5212080"/>
            <a:ext cx="11201400" cy="11430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607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88% of articles carry explicit price-movement language and 77% a numeric comparison — the corpus is not diffuse opinion but a stream of discrete, typable events. This is the empirical justification for structured event extraction over sentiment scoring.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DATA ANALYSIS 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Data Findings Drive the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ig_datadriv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533" y="2468880"/>
            <a:ext cx="6594628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Three measured properties — 29% duplicates, 68–79% missing provenance, 89% multi-scope — each motivate one event attribute.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Phase 1 — Structured Event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53212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STRUCTURED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e = (type, subject, object, magnitude)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20-class event ontology (Macro / Corp / Knowledge / Geo)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+ impact profile: polarity, surprise, scope, novelty, credibility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440680" cy="27432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FinBERT + MULTI-HEAD DECODER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Encoder: ProsusAI/finbert for financial text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Three heads: event-type, argument spans, magnitude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Weak supervision: LLM silver labels + rule/market corrections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10,901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017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structured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443484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50017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event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443484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84.8%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5" y="50017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avg attribute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4434840"/>
            <a:ext cx="265176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0263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FinBERT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3" y="500176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encoder backbone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02  ·  DATA ANALYSIS 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Event Stream — Distribution &amp; Attribute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fig_event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3291840" cy="1548780"/>
          </a:xfrm>
          <a:prstGeom prst="rect">
            <a:avLst/>
          </a:prstGeom>
        </p:spPr>
      </p:pic>
      <p:pic>
        <p:nvPicPr>
          <p:cNvPr id="9" name="Picture 8" descr="fig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3154680" cy="181511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983480"/>
            <a:ext cx="11201400" cy="13716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Event types are long-tailed — the top three are 55% of all events, so training must be class-aware. Polarity / scope / novelty / credibility reach ~85% coverage and are used as standard attributes; surprise is sparse (6.6%), treated as a high-value indicator. A 50-sample audit: 84% type, 78% action, 91% polarity agreement.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Phase 2 — Lag-Aware Causal Discovery (STACD)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212080" cy="4389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GOAL — TWO MATRICES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800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A ∈ (0,1)²⁰ˣ²⁰ — directed event-type strength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T_lag — expected lag, in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MECHANISM — STACD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4800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Sparse temporal attention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Time-direction mask — only past attends to future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Lag-aware Gaussian gate + causal-strength gate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NOTEARS-style acyclicity (DAG) regularizer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5669280" cy="438912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ATTENTION MODULATION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g_ij = exp( -(|t_i-t_j| - T_lag[k_j,k_i])^2 / 2σ^2 )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151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s_ij' = s_ij + log m_ij + log g_ij + log A[k_j,k_i]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α_ij = softmax_j ( s_ij'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82219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L = L_pred + λ1·||A||1 + λ_DAG·h(A)^2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7200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C9D6E3"/>
                </a:solidFill>
                <a:latin typeface="Calibri"/>
              </a:rPr>
              <a:t>Nodes are event types, not stocks — the graph is designed to support interpretable, transferable event-chain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Phase 3 — Problem Setup &amp;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48640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INPUTS  → 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120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Calibri"/>
              </a:rPr>
              <a:t>32 recent news events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Calibri"/>
              </a:rPr>
              <a:t>30-day OHLCV price window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Calibri"/>
              </a:rPr>
              <a:t>Target stock identity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300" b="0" i="0">
                <a:solidFill>
                  <a:srgbClr val="243748"/>
                </a:solidFill>
                <a:latin typeface="Calibri"/>
              </a:rPr>
              <a:t>Output: next-day direction, threshold ±0.5%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5394960" cy="27889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THREE-CLASS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F9E74"/>
                </a:solidFill>
                <a:latin typeface="Calibri"/>
              </a:rPr>
              <a:t>39.4%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3608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2492F"/>
                </a:solidFill>
                <a:latin typeface="Calibri"/>
              </a:rPr>
              <a:t>43.3%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DOWN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6" y="2011680"/>
            <a:ext cx="15544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9256" y="219456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6B7785"/>
                </a:solidFill>
                <a:latin typeface="Calibri"/>
              </a:rPr>
              <a:t>17.3%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9256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3748"/>
                </a:solidFill>
                <a:latin typeface="Calibri"/>
              </a:rPr>
              <a:t>FLAT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B7785"/>
                </a:solidFill>
                <a:latin typeface="Calibri"/>
              </a:rPr>
              <a:t>FLAT is the minority class — macro-F1 is emphasized.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352044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9,566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56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ticker-aligned examples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0248" y="4389120"/>
            <a:ext cx="352044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0248" y="4507992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4956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stocks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4389120"/>
            <a:ext cx="3520440" cy="105156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1856" y="4507992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3861F"/>
                </a:solidFill>
                <a:latin typeface="Calibri"/>
              </a:rPr>
              <a:t>2010–2023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4956048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time span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03  ·  METHOD — 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Phase 3 — Feature Engineering &amp;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11109960" cy="13716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x = [ price ‖ event ‖ stock-ID ]   —   a 132-dimensional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Price  28-d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Calibri"/>
              </a:rPr>
              <a:t>returns, volatility, log-volume, OHLC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Event  82-d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Calibri"/>
              </a:rPr>
              <a:t>type counts, signed/abs magnitude, last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81051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D3A5F"/>
                </a:solidFill>
                <a:latin typeface="Calibri"/>
              </a:rPr>
              <a:t>Stock  22-d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57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785"/>
                </a:solidFill>
                <a:latin typeface="Calibri"/>
              </a:rPr>
              <a:t>one-hot ticker identity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11109960" cy="269748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0815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E3861F"/>
                </a:solidFill>
                <a:latin typeface="Calibri"/>
              </a:rPr>
              <a:t>Why HistGradientBoosting (HGB) over a neural net?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Heterogeneous features — handles counts, ratios, one-hots.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Strong, interpretable baseline — quantifies each source.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Scale-invariant tree splits — minimal feature engineering.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C9D6E3"/>
                </a:solidFill>
                <a:latin typeface="Calibri"/>
              </a:rPr>
              <a:t>Config: max_iter 150 · learning_rate 0.04 · l2 0.05.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Key Result — Stratified vs Chronological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fig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160520" cy="278720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371600"/>
            <a:ext cx="5303520" cy="46177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1790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TWO HONEST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38528"/>
            <a:ext cx="4892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Stratified random — macro-F1 0.693, accuracy 0.728. Well above the 0.43 majority and 0.33 random baselines: the features carry signal.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Chronological — macro-F1 0.337. Near random, consistent with semi-strong market efficiency: forward-time prediction is hard.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6B7785"/>
                </a:solidFill>
                <a:latin typeface="Calibri"/>
              </a:rPr>
              <a:t>      </a:t>
            </a:r>
            <a:r>
              <a:rPr sz="1050" b="0" i="0">
                <a:solidFill>
                  <a:srgbClr val="1D3A5F"/>
                </a:solidFill>
                <a:latin typeface="Calibri"/>
              </a:rPr>
              <a:t>We report both — reporting only the stratified number would overstate real predictive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04  · 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Ablation — Feature-Group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3748"/>
                </a:solidFill>
                <a:latin typeface="Calibri"/>
              </a:rPr>
              <a:t>Stratified-random macro-F1 for the combined-feature models: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54480" y="1783080"/>
          <a:ext cx="90525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52160"/>
                <a:gridCol w="146304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Dim.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43748"/>
                          </a:solidFill>
                          <a:latin typeface="Calibri"/>
                        </a:rPr>
                        <a:t>Price + events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Calibri"/>
                        </a:rPr>
                        <a:t>0.684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43748"/>
                          </a:solidFill>
                          <a:latin typeface="Calibri"/>
                        </a:rPr>
                        <a:t>Full:  price + events + stock ID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3748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57600"/>
            <a:ext cx="11109960" cy="210312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22191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3861F"/>
                </a:solidFill>
                <a:latin typeface="Calibri"/>
              </a:rPr>
              <a:t>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Adding stock identity lifts macro-F1 from 0.684 to 0.693 — ticker-specific volatility and reaction patterns remain useful.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200" b="0" i="0">
                <a:solidFill>
                  <a:srgbClr val="243748"/>
                </a:solidFill>
                <a:latin typeface="Calibri"/>
              </a:rPr>
              <a:t>The combined representation is learnable under a stratified split — it is the configuration we report.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05  ·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Comparison with the Baseline — Multi-Axis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400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/>
                <a:gridCol w="4206240"/>
                <a:gridCol w="4617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CausalStock (NeurIPS 2024)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anchor="ctr" marL="73152" marR="45720" marT="18288" marB="18288">
                    <a:solidFill>
                      <a:srgbClr val="1D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3748"/>
                          </a:solidFill>
                          <a:latin typeface="Calibri"/>
                        </a:rPr>
                        <a:t>Causality level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Stock-level graph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Event-type graph (20×20)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3748"/>
                          </a:solidFill>
                          <a:latin typeface="Calibri"/>
                        </a:rPr>
                        <a:t>News representation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Dense denoised embedding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Structured event + impact profile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3748"/>
                          </a:solidFill>
                          <a:latin typeface="Calibri"/>
                        </a:rPr>
                        <a:t>Prediction task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Binary up / down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3-class with a ±0.5% FLAT zone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3748"/>
                          </a:solidFill>
                          <a:latin typeface="Calibri"/>
                        </a:rPr>
                        <a:t>Evaluation protocol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Mostly random split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Stratified + chronological</a:t>
                      </a:r>
                    </a:p>
                  </a:txBody>
                  <a:tcPr anchor="ctr" marL="73152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43748"/>
                          </a:solidFill>
                          <a:latin typeface="Calibri"/>
                        </a:rPr>
                        <a:t>Data scale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Larger, multi-dataset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43748"/>
                          </a:solidFill>
                          <a:latin typeface="Calibri"/>
                        </a:rPr>
                        <a:t>5% FNSPID subset, 22 stocks</a:t>
                      </a:r>
                    </a:p>
                  </a:txBody>
                  <a:tcPr anchor="ctr" marL="73152" marR="45720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12080"/>
            <a:ext cx="11201400" cy="91440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40096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Complementary, not competing — event-type causality transfers across companies and markets; stock-level causality is bound to a fixed company universe.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05  ·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Comparison — An Interpretable Reading of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43748"/>
                </a:solidFill>
                <a:latin typeface="Calibri"/>
              </a:rPr>
              <a:t>Our setup is harder and stricter than the baseline's — the gap is explainable along four axes: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11109960" cy="8412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417320" cy="841248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3852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783080"/>
            <a:ext cx="9326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43748"/>
                </a:solidFill>
                <a:latin typeface="Calibri"/>
              </a:rPr>
              <a:t>We predict 3 classes with a ±0.5% FLAT dead zone; the baseline predicts binary up/down. FLAT is the hard minority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11109960" cy="8412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51760"/>
            <a:ext cx="1417320" cy="841248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43200"/>
            <a:ext cx="9326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43748"/>
                </a:solidFill>
                <a:latin typeface="Calibri"/>
              </a:rPr>
              <a:t>A 5% FNSPID subset over 22 stocks — far smaller; cross-stock relational signal is limited at this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109960" cy="8412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1417320" cy="841248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5876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703320"/>
            <a:ext cx="9326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43748"/>
                </a:solidFill>
                <a:latin typeface="Calibri"/>
              </a:rPr>
              <a:t>Our directly comparable number is the chronological one; a random split mixes market regimes and inflates apparent performance.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1109960" cy="841248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417320" cy="841248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18888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E3861F"/>
                </a:solidFill>
                <a:latin typeface="Calibri"/>
              </a:rP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663440"/>
            <a:ext cx="93268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243748"/>
                </a:solidFill>
                <a:latin typeface="Calibri"/>
              </a:rPr>
              <a:t>The baseline couples news with a price-derived causal backbone end-to-end; our evaluated layer is a transparent tabular model over aggregated event statistics — interpretable but lossier.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We do not claim to beat the baseline — we contribute a transferable event-type formulation and a stricter, honest evaluation.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05  ·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0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solidFill>
            <a:srgbClr val="2F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WE CONTRIBUTE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5120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A clearer event-structured problem formulation.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An EDA-driven event schema — attributes earned from measured data.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A mathematically specified lag-aware event-causal model.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An honest analysis separating information content from forward-time predictability.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486400" cy="429768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5486400" cy="457200"/>
          </a:xfrm>
          <a:prstGeom prst="rect">
            <a:avLst/>
          </a:prstGeom>
          <a:solidFill>
            <a:srgbClr val="2E6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120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Integrate A and T_lag directly as Phase-3 features.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Model cross-stock event propagation.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Regime-aware temporal encoding against distribution shift.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1" i="0">
                <a:solidFill>
                  <a:srgbClr val="E3861F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243748"/>
                </a:solidFill>
                <a:latin typeface="Calibri"/>
              </a:rPr>
              <a:t>Rolling walk-forward validation as the default protocol.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785"/>
                </a:solidFill>
                <a:latin typeface="Calibri"/>
              </a:rPr>
              <a:t>We do not claim solved stock prediction — we claim a clean formulation and an honest study of where structured news helps.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50292"/>
          </a:xfrm>
          <a:prstGeom prst="rect">
            <a:avLst/>
          </a:prstGeom>
          <a:solidFill>
            <a:srgbClr val="E38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3861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CausalStock  ·  CS173 Data Mining  ·  Team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785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109960" cy="2377440"/>
          </a:xfrm>
          <a:prstGeom prst="roundRect">
            <a:avLst/>
          </a:prstGeom>
          <a:solidFill>
            <a:srgbClr val="1D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109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Q &amp; A   —   Thank you for listening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DB0C4"/>
                </a:solidFill>
                <a:latin typeface="Calibri"/>
              </a:rPr>
              <a:t>CausalStock  ·  CS173 Data Mining Final  ·  Team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