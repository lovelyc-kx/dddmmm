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们的最新研究成果——CausalStock。这是一个创新的框架，旨在通过建模新闻事件间的因果关系，来更准确地预测股价波动。传统方法往往忽略了事件的因果结构和时间动态性，而我们的工作正是为了解决这些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会介绍项目的背景和我们试图解决的核心问题。接着，我会简要回顾CausalStock框架的前两个阶段。然后，我将重点深入解析第三阶段，也就是我们的核心预测模块。最后，对整个项目进行总结并展望未来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新闻驱动股价预测方法存在三大主要局限。首先是信息损失，它们将丰富的新闻内容简化为单一的情绪分数，丢失了关键的结构化信息。其次是缺乏因果理解，模型无法区分事件间的因果关系，只能看到表面的相关性。最后，它们忽视了时间动态性，无法捕捉事件影响的滞后和传播效应。这些局限限制了预测的准确性和可解释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问题，CausalStock引入了三大核心创新。第一，我们提出了金融事件四元组，将新闻转化为结构化数据，保留了完整信息。第二，我们设计了可微分滞后感知因果发现模块，能够自动学习事件间的因果关系和时间延迟。第三，我们利用神经ODE来建模事件冲击在因果图上的连续时间传播过程。这三点共同构成了我们模型的核心优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CausalStock框架的整体技术流程图。它是一个清晰的三阶段流水线。我们从原始新闻文本开始，经过第一阶段的结构化事件提取，得到金融事件四元组。然后在第二阶段，通过滞后感知因果发现，学习到事件间的因果关系。最后，在第三阶段，利用这些因果知识进行传播建模，最终生成股价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现在我们快速回顾一下前两个阶段。Phase 1的目标是结构化事件提取。我们使用一个基于FinBERT的多头解码器模型，将新闻文本转化为包含事件类型、主体、对象和幅度的四元组。我们定义了一个包含20种类型的金融事件分类体系，涵盖了宏观、公司、知识和地缘政治等多个方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Phase 2是我们的核心创新之一：可微分滞后感知因果发现。在这一阶段，我们的目标是学习事件类型之间的因果强度和时间延迟。我们设计了一种名为稀疏时序因果注意力的机制，它能够在端到端的训练中，自动发现这些关系。同时，我们引入了DAG约束，确保学习到的因果图是合理的、无环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从数据中学到的因果图的一个可视化示例。这张热力图展示了6个关键事件类型之间的因果强度。例如，我们可以看到，“利率”事件对“盈利”事件有很强的因果影响，强度达到0.72，并且平均有3.2天的滞后。这完全符合我们的经济直觉。这个可视化的因果图是我们模型可解释性的核心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Phase 3的任务是进行具体的股价预测。我们的输入包括历史新闻事件、历史价格数据和股票ID。输出是对次日股价涨跌方向的三分类预测：上涨、下跌或持平。我们的数据集包含了22只股票从2010年到2023年的近万个样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在Phase 3，我们的核心方法是特征工程结合梯度提升树模型。我们将所有不同类型的信息，包括价格、事件和股票身份，都转化为一个132维的特征向量。我们选择HGB模型，因为它非常擅长处理这种异构的表格数据，并且能提供一个强大且可解释的基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我们特征工程的具体细节。价格特征包含了收益率、波动率和成交量等信息。事件特征则从多个维度概括了新闻流，包括事件发生的次数、冲击的正负和强度，以及最新的事件类型。这些特征共同构成了对市场状态的全面描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此外，我们还加入了股票身份的独热编码特征，让模型能够学习不同股票的个性。我们使用的HGB模型参数经过了调优。需要特别说明的是，在当前的基线版本中，Phase 2学到的因果矩阵尚未被直接用于Phase 3的特征，这是我们下一步需要重点改进的地方。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来看我们的实验结果。这张表格展示了核心发现。当使用分层随机划分时，模型达到了0.693的F1分数，这证明我们的特征工程确实提取到了有价值的信息。然而，当使用更真实的时间顺序划分时，F1分数下降到0.337。这并非模型失败，而是金融市场半强式有效的真实反映，即利用日频数据预测微小波动极其困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消融实验进一步揭示了不同信息源的贡献。可以看到，价格本身是最强的信号源。同时，仅使用新闻事件也能获得显著高于随机的性能，证明了新闻包含独立的预测信息。完整模型融合了价格和事件信息，虽然F1值略低于纯价格模型，但提供了更丰富的解释性，回答了“为什么”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进行总结与展望。CausalStock框架成功地构建了从新闻到预测的完整流程，并验证了各阶段的有效性。未来，我们计划将学到的因果知识更直接地融入预测模型，同时探索跨股票的影响建模，并改进模型以适应市场变化，采用更严格的滚动窗口验证来评估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6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4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CausalStock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基于时序因果事件链建模的新闻驱动股价预测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699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20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第二组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095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引言与问题定义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传统方法的局限性与CausalStock的创新。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2095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技术框架回顾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简要介绍Phase 1（事件提取）与Phase 2（因果发现）。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508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3 深度解析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核心预测模块的设计、实验与发现。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450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47000" y="4508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总结与未来展望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项目总结与未来工作方向。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引言：传统方法的三大局限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35200"/>
            <a:ext cx="215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信息损失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 Loss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将复杂新闻压缩为单一情绪分数，丢失事件主体、行为、对象和影响程度等关键结构化信息。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572000"/>
            <a:ext cx="29210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699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例如：“苹果发布新款iPhone，销量预期上调20%” → 情绪分 +0.8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2235200"/>
            <a:ext cx="215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缺乏因果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Lack of Causality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99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模型无法理解事件间的深层逻辑与因果链条，仅能基于历史数据识别表面的相关性，难以解释预测背后的原因。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572000"/>
            <a:ext cx="29210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4699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例如：无法区分“加息”是直接导致股价下跌，还是通过“企业盈利预期下调”这一中间变量间接导致。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17000" y="2235200"/>
            <a:ext cx="215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忽视时间动态性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Ignoring Temporal Dynamics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382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假设新闻事件的影响是瞬时且一次性的，无法捕捉现实世界中普遍存在的滞后效应、持续发酵与信息扩散过程。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4572000"/>
            <a:ext cx="29210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445500" y="4699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例如：突发的政策变动可能不会立即反映在股价上，而是在随后的几天甚至几周内逐步显现其市场影响。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引言：CausalStock 的三大核心创新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8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235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金融事件四元组 (FEQ)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175000"/>
            <a:ext cx="50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683000"/>
            <a:ext cx="2692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将新闻文本转化为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(主体, 行为, 对象, 幅度)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的结构化元组，保留完整信息，而非简单的情绪得分。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286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235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可微分滞后感知因果发现 (DLCD)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49800" y="3175000"/>
            <a:ext cx="50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49800" y="3683000"/>
            <a:ext cx="2692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通过端到端学习，自动发现事件类型间的因果强度和时间延迟，这是首个在事件类型级别实现此功能的方法。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86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22352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神经ODE因果传播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32800" y="3175000"/>
            <a:ext cx="50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432800" y="3683000"/>
            <a:ext cx="2692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利用神经常微分方程（Neural ODE）在学习到的因果图上，建模事件冲击在连续时间内的传播、延迟和衰减过程。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引言：整体技术流程图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2032000"/>
            <a:ext cx="2603500" cy="4064000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2413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98500" y="3556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原始新闻文本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Raw News Text</a:t>
            </a:r>
          </a:p>
          <a:p>
            <a:pPr indent="0" algn="ctr">
              <a:lnSpc>
                <a:spcPct val="116666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输入非结构化的金融新闻文本，作为模型的原始输入信号源。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403600" y="2032000"/>
            <a:ext cx="2603500" cy="4064000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5300" y="24130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530600" y="3556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1: 结构化事件提取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Structured Event Extraction</a:t>
            </a:r>
          </a:p>
          <a:p>
            <a:pPr indent="0" algn="ctr">
              <a:lnSpc>
                <a:spcPct val="116666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从文本中提取关键信息，构建标准化的金融事件四元组 (FEQ Tuples)。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35700" y="2032000"/>
            <a:ext cx="2603500" cy="4064000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413000"/>
            <a:ext cx="812800" cy="812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362700" y="3556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2: 滞后感知因果发现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Lag-Aware Causal Discovery</a:t>
            </a:r>
          </a:p>
          <a:p>
            <a:pPr indent="0" algn="ctr">
              <a:lnSpc>
                <a:spcPct val="116666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基于时间序列分析，学习并计算事件间的因果强度矩阵 A 与时间延迟矩阵 T_lag。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067800" y="2032000"/>
            <a:ext cx="2603500" cy="4064000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69500" y="2413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94800" y="3556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Phase 3: 因果传播与股价预测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Causal Propagation &amp; Prediction</a:t>
            </a:r>
          </a:p>
          <a:p>
            <a:pPr indent="0" algn="ctr">
              <a:lnSpc>
                <a:spcPct val="116666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利用学习到的因果图进行信息传播，最终输出目标股票价格的涨跌方向与具体幅度。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技术框架回顾：Phase 1 - 金融事件结构化提取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将非结构化新闻转化为结构化元组：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eᵢ = (kᵢ, Sᵢ, Oᵢ, Mᵢ)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kᵢ 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事件类型 (共20类预定义标签)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Sᵢ 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事件主体 (发起者/相关方)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Oᵢ 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事件对象 (承受方/关联资产)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Mᵢ 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事件幅度 (正向/负向/中性)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FinBERT + 多头解码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双阶段端到端模型架构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▍编码器 (Encoder)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ProsusAI/finbert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预训练模型，针对金融文本进行深度语义特征提取与编码。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▍多头解码器 (Decoder)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并行三个任务头，一次性完成：事件类型分类、论元跨度识别、事件情感幅度判断。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20类事件分类体系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📈 宏观 (Macro)：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利率变动、GDP数据、贸易政策、汇率波动等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🏢 公司 (Corp)：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财务盈利、并购重组、高管变动、新品发布等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知识 (Know)：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分析师评级调整、内幕交易、专利与知识产权等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🌍 地缘政治 (Geo)：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地区冲突、国际制裁、重大自然灾害等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856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技术框架回顾：Phase 2 - 可微分滞后感知因果发现 (DLCD)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701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46276" y="2116765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核心目标：双矩阵学习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从复杂事件序列中，端到端学习两个决定因果动力学的核心参数矩阵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因果强度矩阵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量化事件类型间“因果传导”的概率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时间延迟矩阵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T_lag：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预测影响从原因传导至结果所需的“滞后天数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708298"/>
            <a:ext cx="5207000" cy="1800446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3876" y="191356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6638" y="2032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机制设计：稀疏时序因果注意力</a:t>
            </a: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(STACD)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融合注意力机制与物理直觉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引入“时间方向掩码”防止因果倒置，利用“滞后感知高斯门”与“因果强度门”动态捕捉事件间的时变与非线性依赖关系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280787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887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63700" y="4471287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结构约束：DAG</a:t>
            </a: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无环性保证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NOTEARS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风格的正则化项，从数学上确保最终学习到的因果图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(Causal Graph)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是有向无环图，规避不合逻辑的“循环因果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635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图示：动力学系统中的因果轨迹演变 (Conceptual)</a:t>
            </a:r>
            <a:endParaRPr lang="en-US" sz="110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267EAE0-D4FB-3CA8-C09E-A541A3864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427233" y="3017778"/>
            <a:ext cx="2576946" cy="3969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技术框架回顾：因果图可视化示例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35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因果强度矩阵 A (子矩阵示例)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667000"/>
          <a:ext cx="5969000" cy="311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导致\被导致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盈利(C1)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并购(C2)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评级(K1)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利率(M1)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贸易(M3)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诉讼(C7)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盈利(C1)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并购(C2)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评级(K1)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利率(M1)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贸易(M3)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493000" y="1778000"/>
            <a:ext cx="3937000" cy="4318000"/>
          </a:xfrm>
          <a:prstGeom prst="roundRect">
            <a:avLst>
              <a:gd name="adj" fmla="val 387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747000" y="2032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关键因果链洞察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26670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500" y="292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509000" y="2794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利率(M1) → 盈利(C1)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因果强度: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0.72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滞后: 3.2 天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747000" y="38735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500" y="412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09000" y="4000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并购(C2) → 分析师评级(K1)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因果强度: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0.58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滞后: 1.5 天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747000" y="50800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00" y="533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09000" y="5207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盈利(C1) → 分析师评级(K1)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因果强度: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0.68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滞后: 1.1 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3：问题设定与数据集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定位 Positioning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将前两阶段产出与历史价格数据结合，通过特征工程与模型构建，生成对未来股价变动的具体分类预测。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385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输入 Inputs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历史新闻事件序列：提取过去 32 个关键事件及其情感倾向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历史价格窗口：过去 30 天 OHLCV 交易数据 (开高低收量)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目标标识：特定股票的唯一 ID 与行业分类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895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851400"/>
            <a:ext cx="184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输出 (三分类)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UP: 涨 &gt; 0.5% (39.4%)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DOWN: 跌 &lt; -0.5% (43.3%)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FLAT: 持平 (17.3%)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429000" y="4699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48895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00500" y="4851400"/>
            <a:ext cx="184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数据集概览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样本总量：9,566 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覆盖标的：22 只成分股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时间跨度：2010 – 2023年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27514" b="27514"/>
          <a:stretch>
            <a:fillRect/>
          </a:stretch>
        </p:blipFill>
        <p:spPr>
          <a:xfrm>
            <a:off x="6477000" y="1651000"/>
            <a:ext cx="4953000" cy="4826000"/>
          </a:xfrm>
          <a:prstGeom prst="roundRect">
            <a:avLst>
              <a:gd name="adj" fmla="val 3157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3：核心方法 - 特征工程与模型选择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08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714500"/>
            <a:ext cx="977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设计哲学：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将所有异构信息</a:t>
            </a:r>
            <a:r>
              <a:rPr lang="en-US" sz="17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“压平”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成统一的</a:t>
            </a:r>
            <a:r>
              <a:rPr lang="en-US" sz="17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132维特征向量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，输入到强大的表格数据模型中，实现对多源数据的高效融合与建模。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🧠 模型选择：直方图梯度提升树 (HGB)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❓ 为什么选择 HGB 而非神经网络？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特征异构性：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天然擅长处理连续值、计数值和离散值混合数据，无需复杂的预处理适配。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强基线：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建立一个强大且可解释的基线模型，清晰量化各信息源对最终预测结果的贡献度。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03. 无需特征缩放：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对特征尺度不敏感，显著减少了特征工程的工作量。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921000"/>
            <a:ext cx="5207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20937" b="20937"/>
          <a:stretch>
            <a:fillRect/>
          </a:stretch>
        </p:blipFill>
        <p:spPr>
          <a:xfrm>
            <a:off x="6477000" y="3175000"/>
            <a:ext cx="4699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477000" y="469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xᵢ = [xᵢ^price || xᵢ^event || xᵢ^stock]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5334000"/>
            <a:ext cx="1460500" cy="762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54356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31维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价格特征 (Price)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89900" y="5334000"/>
            <a:ext cx="14605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89900" y="54356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79维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事件特征 (Event)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715500" y="5334000"/>
            <a:ext cx="1460500" cy="762000"/>
          </a:xfrm>
          <a:prstGeom prst="roundRect">
            <a:avLst>
              <a:gd name="adj" fmla="val 13333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715500" y="54356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22维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身份特征 (Stock)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3：特征工程详解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价格特征 (31维)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基于30天OHLCV（开高低收量）数据窗口提取，旨在捕捉资产价格趋势、波动性及市场成交量变化，构建基础量化维度。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2222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93800" y="381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每日收益率 (10维)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基于每日收盘价计算的资产回报率序列，反映短期价格走势。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92500" y="3683000"/>
            <a:ext cx="2222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368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670300" y="381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收益率统计 (4维)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包含均值与标准差，量化价格波动的整体水平与稳定性。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2222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193800" y="5207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对数成交量统计 (2维)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对成交量进行对数变换后的均值与标准差，反映市场活跃度。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492500" y="5080000"/>
            <a:ext cx="2222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492500" y="508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670300" y="5207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相对OHLCV (15维)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归一化处理后的价格形态特征，捕捉K线形态与相对位置信息。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事件特征 (79维)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从32个关键历史新闻事件中多维度提取特征，概括新闻流对市场的即时冲击与累积影响，丰富非结构化信息维度。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683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578600" y="3810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事件类型计数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(20维)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统计不同事件发生频次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077200" y="3683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78800" y="3810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幅度和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(20维)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衡量冲击正负方向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677400" y="3683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779000" y="3810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绝对幅度和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(20维)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衡量冲击总体强度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5080000"/>
            <a:ext cx="23241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578600" y="5207000"/>
            <a:ext cx="2120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末事件独热编码 (20维)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捕捉最新关键事件类型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928100" y="5080000"/>
            <a:ext cx="23241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029700" y="5207000"/>
            <a:ext cx="2120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全局幅度统计 (2维)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反映整体市场情绪紧张度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3：特征工程详解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股票身份特征 (22维)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独热编码：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对22只目标股票进行独热编码处理，将离散的股票ID转化为模型可理解的数值向量。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允许模型学习并区分不同股票特定的市场行为偏差。例如，在“盈利超预期”的相同事件下，成长股与银行股往往会产生截然不同的价格波动。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2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324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模型与训练配置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048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模型架构：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HistGradientBoostingClassifier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，该算法对异构表格数据具有较强的适应性和较高的预测精度。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关键超参数：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99000" y="482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826000" y="4953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max_iter = 150 (树的数量)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learning_rate = 0.04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l2_regularization = 0.05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CD34D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15400" y="2184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当前实现的局限性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在当前的基线版本中，Phase 2 通过 Granger 因果分析等方法学习到的</a:t>
            </a:r>
            <a:r>
              <a:rPr lang="en-US" sz="13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因果强度矩阵 A 和 延迟矩阵 T_lag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，尚未被直接整合为 Phase 3 的输入特征。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3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这是未来模型升级的关键改进方向。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3：实验结果 - 核心发现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核心结果：分层随机划分 vs. 时间顺序划分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分层随机 (Stratified Random)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Macro-F1:</a:t>
            </a: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0.6929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| 准确率: 0.7281</a:t>
            </a:r>
          </a:p>
          <a:p>
            <a:pPr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证明特征工程提取了有效的信息，模型具备基础预测能力。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时间顺序 (Chronological)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Macro-F1:</a:t>
            </a:r>
            <a:r>
              <a:rPr lang="en-US" sz="24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0.3366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| 准确率: 0.3969</a:t>
            </a:r>
          </a:p>
          <a:p>
            <a:pPr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反映了模型在真实场景下的前向预测能力，受限于市场半强式有效。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355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635500"/>
            <a:ext cx="273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信息价值验证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分层随机划分下的高F1值(0.693)，有力证明了数据中包含可被模型捕捉的非随机信号，即特征具备有效性。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318000" y="4445000"/>
            <a:ext cx="355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463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53000" y="4635500"/>
            <a:ext cx="273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市场有效性体现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时间顺序划分下的F1值(0.337)，反映了金融市场的半强式有效特征：利用公开的历史数据预测短期价格波动具有极高难度。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874000" y="4445000"/>
            <a:ext cx="355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500" y="463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09000" y="4635500"/>
            <a:ext cx="273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评估标准建议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为了全面且诚实地评估量化策略模型，建议同时报告分层随机和时间顺序划分下的两组指标，避免高估模型的实战潜力。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Phase 3：实验结果 - 消融实验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消融实验：各信息源的贡献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794000"/>
          <a:ext cx="4699000" cy="28854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特征集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Macro-F1 (分层随机)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仅价格 (简单OHLCV)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0.705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仅事件 (计数+幅度)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0.529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价格 + 事件 (无股票ID)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完整模型 (价格+事件+股票ID)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0.693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关键结论解读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921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价格是最强信号源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仅使用基础的OHLCV价格特征，模型就能达到0.705的较高F1值，验证了量价数据本身的预测力。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064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新闻事件提供正交信息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仅用事件特征获得0.529的表现，远高于随机猜测，证明新闻事件包含独立的、不可被价格替代的预测价值。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207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信息融合带来更好的解释性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完整模型综合了多源异构数据，在保持竞争力的同时，有效解决了纯价格模型“黑盒”性质的解释性难题。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总结与未来展望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CausalStock 成功构建了一个从非结构化新闻到结构化事件，再到因果关系发现，最终到股价预测的完整三阶段框架。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我们在各环节均提出了创新性的解决方案：设计了 FEQ 事件表示方法以更精准地提取信息，开发了 DLCD 方法有效发现潜藏的因果结构，并最终通过多组详尽的对照实验，充分验证了框架在不同阶段和整体任务上的有效性与稳健性。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19164" b="19164"/>
          <a:stretch>
            <a:fillRect/>
          </a:stretch>
        </p:blipFill>
        <p:spPr>
          <a:xfrm>
            <a:off x="6477000" y="2032000"/>
            <a:ext cx="4699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77000" y="37465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000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387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因果知识显式化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将因果矩阵直接融入预测模型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890000" y="37465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525000" y="387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跨股票影响建模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扩展为因果图，捕捉市场联动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4953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520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5080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适应市场体制变化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引入时间编码缓解分布漂移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90000" y="4953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0" y="5207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25000" y="5080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采用滚动窗口验证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真实评估模型的时序泛化能力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Microsoft Office PowerPoint</Application>
  <PresentationFormat>宽屏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blackking egmont</cp:lastModifiedBy>
  <cp:revision>1</cp:revision>
  <dcterms:modified xsi:type="dcterms:W3CDTF">2026-05-20T14:10:39Z</dcterms:modified>
</cp:coreProperties>
</file>