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79776"/>
            <a:ext cx="12191695" cy="54864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CS173  ·  DATA MINING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Calibri"/>
              </a:rPr>
              <a:t>EventChain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C9D6E3"/>
                </a:solidFill>
                <a:latin typeface="Calibri"/>
              </a:rPr>
              <a:t>Structured Event-Chain Modeling for News-Driven Stock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DB0C4"/>
                </a:solidFill>
                <a:latin typeface="Calibri"/>
              </a:rPr>
              <a:t>数据驱动的结构化事件链建模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11880"/>
            <a:ext cx="3383280" cy="1143000"/>
          </a:xfrm>
          <a:prstGeom prst="roundRect">
            <a:avLst/>
          </a:prstGeom>
          <a:solidFill>
            <a:srgbClr val="27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7490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861F"/>
                </a:solidFill>
                <a:latin typeface="Calibri"/>
              </a:rPr>
              <a:t>Data-driven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114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3 EDA findings  →  3 new event attributes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611880"/>
            <a:ext cx="3383280" cy="1143000"/>
          </a:xfrm>
          <a:prstGeom prst="roundRect">
            <a:avLst/>
          </a:prstGeom>
          <a:solidFill>
            <a:srgbClr val="27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861F"/>
                </a:solidFill>
                <a:latin typeface="Calibri"/>
              </a:rPr>
              <a:t>Interpretable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114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20×20 event-type causal graph with lags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611880"/>
            <a:ext cx="3383280" cy="1143000"/>
          </a:xfrm>
          <a:prstGeom prst="roundRect">
            <a:avLst/>
          </a:prstGeom>
          <a:solidFill>
            <a:srgbClr val="27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7490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861F"/>
                </a:solidFill>
                <a:latin typeface="Calibri"/>
              </a:rPr>
              <a:t>Honest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114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stratified + chronological dual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52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DB0C4"/>
                </a:solidFill>
                <a:latin typeface="Calibri"/>
              </a:rPr>
              <a:t>Team 2     ·     CS173 Final Project     ·  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435608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3716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Calibri"/>
              </a:rPr>
              <a:t>Data &amp;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792224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Calibri"/>
              </a:rPr>
              <a:t>FNSPID task; the CausalStock (NeurIPS'24) baseline and its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2414016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350008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Calibri"/>
              </a:rPr>
              <a:t>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77063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Calibri"/>
              </a:rPr>
              <a:t>Missingness, headline duplication, event-clue density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28416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Calibr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3392424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332841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Calibri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7490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Calibri"/>
              </a:rPr>
              <a:t>Structured events + lag-aware event-type causal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06824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Calibri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4370832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4306824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Calibri"/>
              </a:rPr>
              <a:t>Experiments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72744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Calibri"/>
              </a:rPr>
              <a:t>Attribute coverage, ablation, stratified vs chronological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85232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Calibri"/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5349240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5285232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Calibri"/>
              </a:rPr>
              <a:t>Discussion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705856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Calibri"/>
              </a:rPr>
              <a:t>Limits, what we learned,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01  ·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Task: News-Driven Stock Movement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86400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3748"/>
                </a:solidFill>
                <a:latin typeface="Calibri"/>
              </a:rPr>
              <a:t>Input:  32 recent events  +  30-day OHLCV  +  ticker ID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3748"/>
                </a:solidFill>
                <a:latin typeface="Calibri"/>
              </a:rPr>
              <a:t>Output:  next-day direction  —  UP / DOWN / FLAT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3748"/>
                </a:solidFill>
                <a:latin typeface="Calibri"/>
              </a:rPr>
              <a:t>Decision threshold  δ = 0.5%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3748"/>
                </a:solidFill>
                <a:latin typeface="Calibri"/>
              </a:rPr>
              <a:t>Dataset:  5% FNSPID subset  ·  22 stocks  ·  2010–2023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94960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CLASS DISTRIBUTION (3-class, imbalanced)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011680"/>
            <a:ext cx="1554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2F9E74"/>
                </a:solidFill>
                <a:latin typeface="Calibri"/>
              </a:rPr>
              <a:t>39.4%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3748"/>
                </a:solidFill>
                <a:latin typeface="Calibri"/>
              </a:rPr>
              <a:t>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93608" y="2011680"/>
            <a:ext cx="1554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945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C2492F"/>
                </a:solidFill>
                <a:latin typeface="Calibri"/>
              </a:rPr>
              <a:t>43.3%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3748"/>
                </a:solidFill>
                <a:latin typeface="Calibri"/>
              </a:rPr>
              <a:t>DOWN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49256" y="2011680"/>
            <a:ext cx="1554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9256" y="21945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6B7785"/>
                </a:solidFill>
                <a:latin typeface="Calibri"/>
              </a:rPr>
              <a:t>17.3%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9256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3748"/>
                </a:solidFill>
                <a:latin typeface="Calibri"/>
              </a:rPr>
              <a:t>FLAT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11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785"/>
                </a:solidFill>
                <a:latin typeface="Calibri"/>
              </a:rPr>
              <a:t>FLAT is the hard minority class — central to the honest evaluation.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109960" cy="141732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8056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861F"/>
                </a:solidFill>
                <a:latin typeface="Calibri"/>
              </a:rPr>
              <a:t>Why it is hard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46320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A news item is not a standalone signal: a rate hike triggers a chain — credit tightening → tech-sector revaluation → supply-chain cooling — over hours to weeks. Sentiment scores collapse this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01  · 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Baseline — CausalStock (NeurIPS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861F"/>
                </a:solidFill>
                <a:latin typeface="Calibri"/>
              </a:rPr>
              <a:t>What it does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349240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09728" cy="1051560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55648"/>
            <a:ext cx="49834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3A5F"/>
                </a:solidFill>
                <a:latin typeface="Calibri"/>
              </a:rPr>
              <a:t>Denoised news encoder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3748"/>
                </a:solidFill>
                <a:latin typeface="Calibri"/>
              </a:rPr>
              <a:t>An LLM compresses each article into one dense embedding vector.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349240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645920"/>
            <a:ext cx="109728" cy="1051560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49834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3A5F"/>
                </a:solidFill>
                <a:latin typeface="Calibri"/>
              </a:rPr>
              <a:t>Stock-level causal graph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3748"/>
                </a:solidFill>
                <a:latin typeface="Calibri"/>
              </a:rPr>
              <a:t>Lag-dependent causality is learned between stocks (s₁ ↔ s₂).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861F"/>
                </a:solidFill>
                <a:latin typeface="Calibri"/>
              </a:rPr>
              <a:t>Two blind spots — and our response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291840"/>
          <a:ext cx="11109960" cy="17007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50408"/>
                <a:gridCol w="555955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Baseline blind spot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EventChain response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43748"/>
                          </a:solidFill>
                        </a:rPr>
                        <a:t>One vector per article hides event type, magnitude, affected entity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43748"/>
                          </a:solidFill>
                        </a:rPr>
                        <a:t>Structured event:  (S, A, O, M)  +  impact profile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43748"/>
                          </a:solidFill>
                        </a:rPr>
                        <a:t>Stock-level graph cannot say what kind of event drove a link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43748"/>
                          </a:solidFill>
                        </a:rPr>
                        <a:t>Causal graph over 20 event types, transferable across firms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48640" y="5257800"/>
            <a:ext cx="11109960" cy="868680"/>
          </a:xfrm>
          <a:prstGeom prst="roundRect">
            <a:avLst/>
          </a:prstGeom>
          <a:solidFill>
            <a:srgbClr val="FBE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132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D3A5F"/>
                </a:solidFill>
                <a:latin typeface="Calibri"/>
              </a:rPr>
              <a:t>Takeaway: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the baseline is strong but structure-blind — EventChain restores event structure and moves causality to the transferable event-type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01  · 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EventChain vs CausalStock — Every Choice Is Data-Justified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201400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00"/>
                <a:gridCol w="2788920"/>
                <a:gridCol w="2926080"/>
                <a:gridCol w="32004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CausalStock (baseline)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EventChain (ours)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Data evidence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</a:rPr>
                        <a:t>News representation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Denoised dense embedding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(S,A,O,M) + impact profile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88% price / 77% numeric cues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</a:rPr>
                        <a:t>Causal graph nodes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Stock-level  (22×22)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Event-type level  (20×20)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long-tailed event distribution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</a:rPr>
                        <a:t>Source trust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—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URL-domain credibility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Publisher 79% / Author 68% missing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</a:rPr>
                        <a:t>Repetition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—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Novelty attribute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29% duplicate headlines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</a:rPr>
                        <a:t>Multi-stock news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implicit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explicit Scope attribute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89.2% multi-scope cues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</a:rPr>
                        <a:t>Evaluation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mostly random split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stratified + chronological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0.69 → 0.34 temporal drift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532120"/>
            <a:ext cx="11201400" cy="841248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0585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Core claim: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every method choice in EventChain is justified by a specific, measured finding in the FNSPID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02  ·  EDA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Dataset Snapshot &amp; Missingness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371600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2646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3A5F"/>
                </a:solidFill>
                <a:latin typeface="Calibri"/>
              </a:rPr>
              <a:t>10,901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653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structured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9968" y="1325880"/>
            <a:ext cx="1371600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8" y="142646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3A5F"/>
                </a:solidFill>
                <a:latin typeface="Calibri"/>
              </a:rPr>
              <a:t>9,566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8653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ticker-aligned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1296" y="1325880"/>
            <a:ext cx="1371600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142646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3A5F"/>
                </a:solidFill>
                <a:latin typeface="Calibri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18653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stocks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1325880"/>
            <a:ext cx="1371600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42646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3A5F"/>
                </a:solidFill>
                <a:latin typeface="Calibri"/>
              </a:rPr>
              <a:t>2010–23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18653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time span</a:t>
            </a:r>
          </a:p>
        </p:txBody>
      </p:sp>
      <p:pic>
        <p:nvPicPr>
          <p:cNvPr id="20" name="Picture 19" descr="fig_eda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3160"/>
            <a:ext cx="5669280" cy="302308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858000" y="1325880"/>
            <a:ext cx="4846320" cy="4297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4630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OBSERVATIONS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874519"/>
            <a:ext cx="44348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Publisher 79% / Author 68% missing — cannot be used as supervision.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URL missing only 0.02% — a clean, near-complete signal.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→ derive a credibility score from the URL domain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Duplicate headlines 29.0% — the same event reported many times.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→ first report carries peak impact; repeats decay → novelty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02  ·  EDA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Event Density &amp; Long-Tailed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fig_eda_c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3931920" cy="2122856"/>
          </a:xfrm>
          <a:prstGeom prst="rect">
            <a:avLst/>
          </a:prstGeom>
        </p:spPr>
      </p:pic>
      <p:pic>
        <p:nvPicPr>
          <p:cNvPr id="9" name="Picture 8" descr="fig_event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3931920" cy="184993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5440680"/>
            <a:ext cx="11201400" cy="91440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5040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Two design drivers: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(1)  the corpus is event-dense (88% price, 77% numeric cues) → a structured event representation is justified over sentiment;   (2)  event types are long-tailed (top-3 = 55%) → class-aware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02  ·  FROM DATA TO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The Innovation — Three Findings, Three 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fig_datadrive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1371600"/>
            <a:ext cx="4114800" cy="20539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715000"/>
            <a:ext cx="10698480" cy="749808"/>
          </a:xfrm>
          <a:prstGeom prst="roundRect">
            <a:avLst/>
          </a:prstGeom>
          <a:solidFill>
            <a:srgbClr val="FBE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861304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D3A5F"/>
                </a:solidFill>
                <a:latin typeface="Calibri"/>
              </a:rPr>
              <a:t>Not bolted on: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novelty, credibility and scope are each earned from a measured property of the FNSPID corpus.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End-to-End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1234440"/>
            <a:ext cx="5120640" cy="29378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Structured Event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532120" cy="2788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EXTRACTOR — FinBERT + multi-head decoder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Type head — 20-way event-type softmax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Span heads — subject / object boundaries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Magnitude head — scalar event intensity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Aux heads — scope / novelty / credibility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440680" cy="2788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WEAK SUPERVISION + HYBRID CORRECTION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029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Silver labels from GPT-4 / DeepSeek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Rule correction for surprise:  (actual − expected) / |expected|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Novelty from sentence-embedding similarity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Credibility from a URL-domain whitelist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Event  =  (Subject, Action, Object, Magnitude)  +  impact profile { polarity, surprise, scope, novelty, credibility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265176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82896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3861F"/>
                </a:solidFill>
                <a:latin typeface="Calibri"/>
              </a:rPr>
              <a:t>10,901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5838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events extracted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4754880"/>
            <a:ext cx="265176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4882896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3861F"/>
                </a:solidFill>
                <a:latin typeface="Calibri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535838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event 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4754880"/>
            <a:ext cx="265176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3055" y="4882896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3861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5" y="535838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decoder heads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0263" y="4754880"/>
            <a:ext cx="265176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0263" y="4882896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3861F"/>
                </a:solidFill>
                <a:latin typeface="Calibri"/>
              </a:rPr>
              <a:t>84.8%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0263" y="535838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avg attr. coverage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The Three Data-Driven 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3716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28016" cy="1371600"/>
          </a:xfrm>
          <a:prstGeom prst="rect">
            <a:avLst/>
          </a:prstGeom>
          <a:solidFill>
            <a:srgbClr val="2F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3A5F"/>
                </a:solidFill>
                <a:latin typeface="Calibri"/>
              </a:rPr>
              <a:t>Novelty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Decays the weight of repeated reporting; novel =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755648"/>
            <a:ext cx="5486400" cy="603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874519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43748"/>
                </a:solidFill>
                <a:latin typeface="Consolas"/>
              </a:rPr>
              <a:t>novelty = 1 − max sim(textᵢ, recent same-ticker news)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44368"/>
            <a:ext cx="11109960" cy="13716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44368"/>
            <a:ext cx="128016" cy="137160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3A5F"/>
                </a:solidFill>
                <a:latin typeface="Calibri"/>
              </a:rPr>
              <a:t>Credibility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1129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3-tier domain whitelist; robust to missing Publisher / Author.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328415"/>
            <a:ext cx="5486400" cy="603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447287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43748"/>
                </a:solidFill>
                <a:latin typeface="Consolas"/>
              </a:rPr>
              <a:t>credibility = score( domain(URLᵢ) 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17136"/>
            <a:ext cx="11109960" cy="13716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17136"/>
            <a:ext cx="128016" cy="1371600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36007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3A5F"/>
                </a:solidFill>
                <a:latin typeface="Calibri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840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Down-weights ticker assignment when news is not single-stock.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901183"/>
            <a:ext cx="5486400" cy="603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5020055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43748"/>
                </a:solidFill>
                <a:latin typeface="Consolas"/>
              </a:rPr>
              <a:t>scope ∈ { single, sector, market, global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Lag-Aware Event-Type Causal Discovery (STACD)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212080" cy="4297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800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A ∈ (0,1)²⁰ˣ²⁰ — directed event-type strength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T_lag ∈ ℝ₊²⁰ˣ²⁰ — expected delay (days)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DESIGN CHOICES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4800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Time-direction mask — only past attends to future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Gaussian lag gate — attention peaks at the learned lag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Causal-strength gate — type-pair prior in log-space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DAG regularization — NOTEARS acyclicity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5669280" cy="42976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MECHANISM — sparse temporal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gᵢⱼ = exp( −(|tᵢ−tⱼ| − T_lag[kⱼ,kᵢ])² / 2σ²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3288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s̃ᵢⱼ = sᵢⱼ + log mᵢⱼ + log gᵢⱼ + log A[kⱼ,kᵢ]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099815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αᵢⱼ = softmaxⱼ ( s̃ᵢⱼ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6674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L = L_pred + λ₁‖A‖₁ + λ_DAG · h(A)²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33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h(A) = tr( e^{A⊙A} ) − K        (NOTEARS)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98348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C9D6E3"/>
                </a:solidFill>
                <a:latin typeface="Calibri"/>
              </a:rPr>
              <a:t>Nodes are event types, not stocks — the graph transfers across companies.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Interpretability Product — Event 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3748"/>
                </a:solidFill>
                <a:latin typeface="Calibri"/>
              </a:rPr>
              <a:t>The learned graph is read as directed event chains with explicit lags. Designed-for chains: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108960" cy="54864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M1 Interest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874519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3861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83080"/>
            <a:ext cx="3108960" cy="548640"/>
          </a:xfrm>
          <a:prstGeom prst="round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90195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C1 Earnings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90195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rate moves squeeze earnings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51176"/>
            <a:ext cx="3108960" cy="54864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7004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C1 Earnings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64261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3861F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2551176"/>
            <a:ext cx="3108960" cy="548640"/>
          </a:xfrm>
          <a:prstGeom prst="round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67004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K1 Analyst 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70048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surprises trigger rating revisions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19272"/>
            <a:ext cx="3108960" cy="54864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381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C2 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1071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3861F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319272"/>
            <a:ext cx="3108960" cy="548640"/>
          </a:xfrm>
          <a:prstGeom prst="round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4381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K1 Analyst 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438144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deals re-rate the merged entity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87368"/>
            <a:ext cx="3108960" cy="54864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062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M4 Monetary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4178807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3861F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4087368"/>
            <a:ext cx="3108960" cy="548640"/>
          </a:xfrm>
          <a:prstGeom prst="round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2062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M1 Interest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2062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signaling precedes hikes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29200"/>
            <a:ext cx="11109960" cy="1325880"/>
          </a:xfrm>
          <a:prstGeom prst="roundRect">
            <a:avLst/>
          </a:prstGeom>
          <a:solidFill>
            <a:srgbClr val="FBE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175504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492F"/>
                </a:solidFill>
                <a:latin typeface="Calibri"/>
              </a:rPr>
              <a:t>Honesty note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522976"/>
            <a:ext cx="10561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3748"/>
                </a:solidFill>
                <a:latin typeface="Calibri"/>
              </a:rPr>
              <a:t>Chains above are the structure the framework is designed to surface. The final 20×20 matrix must be exported from the trained STACD model (export_model_figures.py); A is directed predictive temporal dependence under time-ordering + sparsity + DAG — not intervention-level causality.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Prediction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109960" cy="13716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FEATURE STACK  —  132-dimensional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Price  28-d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returns, volatility, log-volume, OHLC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288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Event  82-d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57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type counts, signed/abs magnitude, last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8288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Stock  22-d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57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one-hot ticker identity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40680" cy="26974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WHY HISTGRADIENTBOOSTING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49834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Handles heterogeneous features (counts, ratios, one-hots)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Strong yet transparent — readable vs heavy neural nets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Scale-invariant tree splits — no feature scaling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max_iter 150 · lr 0.04 · L2 0.05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440680" cy="26974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063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CAUSAL ENSEMBLE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29000"/>
            <a:ext cx="49834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Tabular features  +  learned causal-temporal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050" b="0" i="0">
                <a:solidFill>
                  <a:srgbClr val="C9D6E3"/>
                </a:solidFill>
                <a:latin typeface="Calibri"/>
              </a:rPr>
              <a:t>event representations from Phase 2 / 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Meta-ensemble over several gradient-boosted heads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050" b="0" i="0">
                <a:solidFill>
                  <a:srgbClr val="C9D6E3"/>
                </a:solidFill>
                <a:latin typeface="Calibri"/>
              </a:rPr>
              <a:t>→ this is the configuration that reaches 0.709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04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Experiment 1 — Auxiliary Attribute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15</a:t>
            </a:r>
          </a:p>
        </p:txBody>
      </p:sp>
      <p:pic>
        <p:nvPicPr>
          <p:cNvPr id="8" name="Picture 7" descr="fig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4023360" cy="23149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417320"/>
            <a:ext cx="4389120" cy="41148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55448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965960"/>
            <a:ext cx="40233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Polarity, scope, novelty, credibility — ~85% coverage: dense, usable signals.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Surprise — only 6.6%: sparse but high-value, concentrated in earnings &amp; macro.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→ treat the four as standard features; treat surprise as a sparse high-information indicator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04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Experiment 2 — Main Results &amp; Ablation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16</a:t>
            </a:r>
          </a:p>
        </p:txBody>
      </p:sp>
      <p:pic>
        <p:nvPicPr>
          <p:cNvPr id="8" name="Picture 7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3703320" cy="19497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371600"/>
            <a:ext cx="3291840" cy="46634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15087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1920240"/>
            <a:ext cx="29718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Tabular news+price+stock — 0.693 macro-F1.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Causal ensemble — 0.709: a consistent +1.6-point gain.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ODE-only variants stay below the tabular baseline — not featured.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000" b="0" i="0">
                <a:solidFill>
                  <a:srgbClr val="243748"/>
                </a:solidFill>
                <a:latin typeface="Calibri"/>
              </a:rPr>
              <a:t>single seed — read as a preliminary point estimate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04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Experiment 3 — Honest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17</a:t>
            </a:r>
          </a:p>
        </p:txBody>
      </p:sp>
      <p:pic>
        <p:nvPicPr>
          <p:cNvPr id="8" name="Picture 7" descr="fig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114800" cy="2756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71600"/>
            <a:ext cx="5303520" cy="46177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1790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THREE HONEST READINGS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38528"/>
            <a:ext cx="4892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Stratified 0.693 — features carry usable signal in-distribution.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Chronological 0.337 ≈ random 0.333 — forward-time direction at ±0.5% is near-impossible (consistent with semi-strong market efficiency).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FLAT collapses under the time split — the model degenerates to the majority classes.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050" b="1" i="0">
                <a:solidFill>
                  <a:srgbClr val="1D3A5F"/>
                </a:solidFill>
                <a:latin typeface="Calibri"/>
              </a:rPr>
              <a:t>Stratified-only reporting would overstate real predictive power.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05  · 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Limits, What We Learned,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20440" cy="45262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520440" cy="457200"/>
          </a:xfrm>
          <a:prstGeom prst="rect">
            <a:avLst/>
          </a:prstGeom>
          <a:solidFill>
            <a:srgbClr val="2F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447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WE LEARNED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32004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EDA-driven attribute design is the strongest interpretability lever.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Event-type graph captures intuitive chains (rate→earnings).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Stratified-only reporting overstates real-world power.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371600"/>
            <a:ext cx="3520440" cy="45262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371600"/>
            <a:ext cx="3520440" cy="457200"/>
          </a:xfrm>
          <a:prstGeom prst="rect">
            <a:avLst/>
          </a:prstGeom>
          <a:solidFill>
            <a:srgbClr val="C2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4447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965960"/>
            <a:ext cx="32004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A is predictive temporal dependence, not intervention causality.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Neural-ODE propagation underperforms — low-SNR daily data, high-capacity continuous-time models fit noise.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Single seed; 5% subset; 22 tickers limit regime coverage.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371600"/>
            <a:ext cx="3520440" cy="45262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1371600"/>
            <a:ext cx="3520440" cy="45720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4447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1965960"/>
            <a:ext cx="32004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Multi-seed confidence intervals; MCC / IC metrics.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Rolling walk-forward validation as the default.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Train &amp; export the real causal graph; LLM-assisted surprise.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REFERENCES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Key References  ·  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EventChain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43000" cy="420624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3861F"/>
                </a:solidFill>
                <a:latin typeface="Calibri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26464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Li et al.  CausalStock: Deep End-to-end Causal Discovery for News-driven Stock Movement Prediction.  NeurIPS 2024.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38528"/>
            <a:ext cx="1143000" cy="420624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3861F"/>
                </a:solidFill>
                <a:latin typeface="Calibri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993392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Dong et al.  FNSPID: A Comprehensive Financial News Dataset in Time Series.  KDD ADS 2024.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05456"/>
            <a:ext cx="1143000" cy="420624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7860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3861F"/>
                </a:solidFill>
                <a:latin typeface="Calibri"/>
              </a:rPr>
              <a:t>NLP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56032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Araci.  FinBERT: Financial Sentiment Analysis with Pre-trained Language Models.  arXiv 2019.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72384"/>
            <a:ext cx="1143000" cy="420624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45536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3861F"/>
                </a:solidFill>
                <a:latin typeface="Calibri"/>
              </a:rPr>
              <a:t>Causal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127248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Zheng et al.  DAGs with NO TEARS.  NeurIPS 2018.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39312"/>
            <a:ext cx="1143000" cy="420624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12463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3861F"/>
                </a:solidFill>
                <a:latin typeface="Calibri"/>
              </a:rPr>
              <a:t>Causal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694176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Tank et al.  Neural Granger Causality.  TPAMI 2022.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06240"/>
            <a:ext cx="1143000" cy="420624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79392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3861F"/>
                </a:solidFill>
                <a:latin typeface="Calibri"/>
              </a:rPr>
              <a:t>Caveat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261103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Reisach et al.  Beware of the Simulated DAG!  NeurIPS 2021.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83480"/>
            <a:ext cx="11109960" cy="137160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57800"/>
            <a:ext cx="11109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Q &amp; A   —   Thank you for listening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06440"/>
            <a:ext cx="11109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0C4"/>
                </a:solidFill>
                <a:latin typeface="Calibri"/>
              </a:rPr>
              <a:t>EventChain  ·  CS173 Data Mining Final  ·  Team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