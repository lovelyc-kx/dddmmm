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79776"/>
            <a:ext cx="12191695" cy="54864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CS173  ·  DATA MINING  ·  FINAL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" y="1234440"/>
            <a:ext cx="109728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600" b="1" i="0">
                <a:solidFill>
                  <a:srgbClr val="FFFFFF"/>
                </a:solidFill>
                <a:latin typeface="Calibri"/>
              </a:rPr>
              <a:t>EventChain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402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C9D6E3"/>
                </a:solidFill>
                <a:latin typeface="Calibri"/>
              </a:rPr>
              <a:t>Structured Event-Chain Modeling for News-Driven Stock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9DB0C4"/>
                </a:solidFill>
                <a:latin typeface="Calibri"/>
              </a:rPr>
              <a:t>数据驱动的结构化事件链建模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Data-driven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3 EDA findings  →  3 new event attributes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Interpretable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structured events + transparent tabular 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611880"/>
            <a:ext cx="3383280" cy="1143000"/>
          </a:xfrm>
          <a:prstGeom prst="roundRect">
            <a:avLst/>
          </a:prstGeom>
          <a:solidFill>
            <a:srgbClr val="274A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20" y="3749039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3861F"/>
                </a:solidFill>
                <a:latin typeface="Calibri"/>
              </a:rPr>
              <a:t>Honest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4114800"/>
            <a:ext cx="30175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stratified + chronological dual reporting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52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DB0C4"/>
                </a:solidFill>
                <a:latin typeface="Calibri"/>
              </a:rPr>
              <a:t>Team 2     ·     CS173 Final Project     ·   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Roadmap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691640" y="1435608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65960" y="1371600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Data &amp;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792224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FNSPID task; the CausalStock (NeurIPS'24) baseline and its gap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350008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691640" y="2414016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235000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77063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Missingness, headline duplication, event-clue density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28416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392424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65960" y="332841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749040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Structured events + lag-aware event-type causal discovery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306824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691640" y="4370832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65960" y="430682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Experiments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Attribute coverage, ablation, stratified vs chronological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285232"/>
            <a:ext cx="914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D9E2EC"/>
                </a:solidFill>
                <a:latin typeface="Calibri"/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691640" y="5349240"/>
            <a:ext cx="54864" cy="566928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65960" y="5285232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900" b="1" i="0">
                <a:solidFill>
                  <a:srgbClr val="1D3A5F"/>
                </a:solidFill>
                <a:latin typeface="Calibri"/>
              </a:rPr>
              <a:t>Discussion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65960" y="5705856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B7785"/>
                </a:solidFill>
                <a:latin typeface="Calibri"/>
              </a:rPr>
              <a:t>Limits, what we learned, future work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Task: News-Driven Stock Movement Prediction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48640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SETUP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Input:  32 recent events  +  30-day OHLCV  +  ticker ID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Output:  next-day direction  —  UP / DOWN / FLAT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Decision threshold  δ = 0.5%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350" b="0" i="0">
                <a:solidFill>
                  <a:srgbClr val="243748"/>
                </a:solidFill>
                <a:latin typeface="Calibri"/>
              </a:rPr>
              <a:t>Dataset:  5% FNSPID subset  ·  22 stocks  ·  2010–2023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25880"/>
            <a:ext cx="5394960" cy="27432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CLASS DISTRIBUTION (3-class, imbalanced)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37960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2F9E74"/>
                </a:solidFill>
                <a:latin typeface="Calibri"/>
              </a:rPr>
              <a:t>39.4%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93608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93608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C2492F"/>
                </a:solidFill>
                <a:latin typeface="Calibri"/>
              </a:rPr>
              <a:t>43.3%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93608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DOWN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49256" y="2011680"/>
            <a:ext cx="1554480" cy="14630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49256" y="2194560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100" b="1" i="0">
                <a:solidFill>
                  <a:srgbClr val="6B7785"/>
                </a:solidFill>
                <a:latin typeface="Calibri"/>
              </a:rPr>
              <a:t>17.3%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9256" y="2743200"/>
            <a:ext cx="1554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43748"/>
                </a:solidFill>
                <a:latin typeface="Calibri"/>
              </a:rPr>
              <a:t>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6B7785"/>
                </a:solidFill>
                <a:latin typeface="Calibri"/>
              </a:rPr>
              <a:t>FLAT is the hard minority class — central to the honest evaluation.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97680"/>
            <a:ext cx="11109960" cy="141732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480560"/>
            <a:ext cx="10607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Why it is hard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846320"/>
            <a:ext cx="106070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A news item is not a standalone signal: a rate hike triggers a chain — credit tightening → tech-sector revaluation → supply-chain cooling — over hours to weeks. Sentiment scores collapse this structure.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Baseline — CausalStock (NeurIPS 2024)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What it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45920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75564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D3A5F"/>
                </a:solidFill>
                <a:latin typeface="Calibri"/>
              </a:rPr>
              <a:t>Denoised news encoder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3748"/>
                </a:solidFill>
                <a:latin typeface="Calibri"/>
              </a:rPr>
              <a:t>An LLM compresses each article into one dense embedding vector.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645920"/>
            <a:ext cx="5349240" cy="105156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645920"/>
            <a:ext cx="109728" cy="105156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755648"/>
            <a:ext cx="4983479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 i="0">
                <a:solidFill>
                  <a:srgbClr val="1D3A5F"/>
                </a:solidFill>
                <a:latin typeface="Calibri"/>
              </a:rPr>
              <a:t>Stock-level causal graph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3748"/>
                </a:solidFill>
                <a:latin typeface="Calibri"/>
              </a:rPr>
              <a:t>Lag-dependent causality is learned between stocks (s₁ ↔ s₂).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3861F"/>
                </a:solidFill>
                <a:latin typeface="Calibri"/>
              </a:rPr>
              <a:t>Two blind spots — and our response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48640" y="3291840"/>
          <a:ext cx="11109960" cy="170078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550408"/>
                <a:gridCol w="555955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</a:rPr>
                        <a:t>Baseline blind spot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</a:rPr>
                        <a:t>EventChain response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One vector per article hides event type, magnitude, affected entity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Structured event:  (S, A, O, M)  + 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243748"/>
                          </a:solidFill>
                        </a:rPr>
                        <a:t>Stock-level graph cannot say what kind of event drove a link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43748"/>
                          </a:solidFill>
                        </a:rPr>
                        <a:t>Causal graph over 20 event types, transferable across firms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Rounded Rectangle 16"/>
          <p:cNvSpPr/>
          <p:nvPr/>
        </p:nvSpPr>
        <p:spPr>
          <a:xfrm>
            <a:off x="548640" y="5257800"/>
            <a:ext cx="11109960" cy="868680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413248"/>
            <a:ext cx="1051560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D3A5F"/>
                </a:solidFill>
                <a:latin typeface="Calibri"/>
              </a:rPr>
              <a:t>Takeaway: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the baseline is strong but structure-blind — EventChain restores event structure and moves causality to the transferable event-type level.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01  · 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EventChain vs CausalStock — Every Choice Is Data-Justified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1325880"/>
          <a:ext cx="11201400" cy="3840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2286000"/>
                <a:gridCol w="2788920"/>
                <a:gridCol w="2926080"/>
                <a:gridCol w="320040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CausalStock (baseline)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EventChain (ours)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</a:rPr>
                        <a:t>Data evidence</a:t>
                      </a:r>
                    </a:p>
                  </a:txBody>
                  <a:tcPr anchor="ctr" marL="82296" marR="54864" marT="18288" marB="18288">
                    <a:solidFill>
                      <a:srgbClr val="1D3A5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News representation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Denoised dense embedding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(S,A,O,M) + impact profile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88% price / 77% numeric cues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Causal graph nodes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Stock-level  (22×22)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Event-type level  (20×20)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long-tailed event distribution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Source trust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URL-domain credibility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Publisher 79% / Author 68% missing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Repetition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—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Novelty attribute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29% duplicate headlines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Multi-stock news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implicit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explicit Scope attribute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89.2% multi-scope cues</a:t>
                      </a:r>
                    </a:p>
                  </a:txBody>
                  <a:tcPr anchor="ctr" marL="82296" marR="54864" marT="18288" marB="18288">
                    <a:solidFill>
                      <a:srgbClr val="EEF2F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43748"/>
                          </a:solidFill>
                        </a:rPr>
                        <a:t>Evaluation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mostly random split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stratified + chronological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43748"/>
                          </a:solidFill>
                        </a:rPr>
                        <a:t>0.69 → 0.34 temporal drift</a:t>
                      </a:r>
                    </a:p>
                  </a:txBody>
                  <a:tcPr anchor="ctr" marL="82296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02920" y="5532120"/>
            <a:ext cx="11201400" cy="841248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5705856"/>
            <a:ext cx="106070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Core claim: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every method choice in EventChain is justified by a specific, measured finding in the FNSPID data.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EDA 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Dataset Snapshot &amp; Missingness Audit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10,901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structured events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29968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29968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9,566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29968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ticker-aligned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11296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296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1296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stocks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1325880"/>
            <a:ext cx="1371600" cy="9144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42646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D3A5F"/>
                </a:solidFill>
                <a:latin typeface="Calibri"/>
              </a:rPr>
              <a:t>2010–23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1865376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time span</a:t>
            </a:r>
          </a:p>
        </p:txBody>
      </p:sp>
      <p:pic>
        <p:nvPicPr>
          <p:cNvPr id="20" name="Picture 19" descr="fig_eda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423160"/>
            <a:ext cx="5669280" cy="3023081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858000" y="1325880"/>
            <a:ext cx="484632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146304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1874519"/>
            <a:ext cx="44348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Publisher 79% / Author 68% missing — cannot be used as supervision.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URL missing only 0.02% — a clean, near-complete signal.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derive a credibility score from the URL domain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Duplicate headlines 29.0% — the same event reported many times.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first report carries peak impact; repeats decay → novelty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EDA 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Event Density &amp; Long-Tailed Distribution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7</a:t>
            </a:r>
          </a:p>
        </p:txBody>
      </p:sp>
      <p:pic>
        <p:nvPicPr>
          <p:cNvPr id="8" name="Picture 7" descr="fig_eda_c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3931920" cy="2122856"/>
          </a:xfrm>
          <a:prstGeom prst="rect">
            <a:avLst/>
          </a:prstGeom>
        </p:spPr>
      </p:pic>
      <p:pic>
        <p:nvPicPr>
          <p:cNvPr id="9" name="Picture 8" descr="fig_event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280160"/>
            <a:ext cx="3931920" cy="184993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502920" y="5440680"/>
            <a:ext cx="11201400" cy="9144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5550408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Two design drivers: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FFFFF"/>
                </a:solidFill>
                <a:latin typeface="Calibri"/>
              </a:rPr>
              <a:t>(1)  the corpus is event-dense (88% price, 77% numeric cues) → a structured event representation is justified over sentiment;   (2)  event types are long-tailed (top-3 = 55%) → class-aware training.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02  ·  FROM DATA TO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Innovation — Three Findings, Three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8</a:t>
            </a:r>
          </a:p>
        </p:txBody>
      </p:sp>
      <p:pic>
        <p:nvPicPr>
          <p:cNvPr id="8" name="Picture 7" descr="fig_datadriven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447" y="1371600"/>
            <a:ext cx="4114800" cy="20539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" y="5715000"/>
            <a:ext cx="10698480" cy="749808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861304"/>
            <a:ext cx="10241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D3A5F"/>
                </a:solidFill>
                <a:latin typeface="Calibri"/>
              </a:rPr>
              <a:t>Not bolted on: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novelty, credibility and scope are each earned from a measured property of the FNSPID corpus.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End-to-End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9</a:t>
            </a:r>
          </a:p>
        </p:txBody>
      </p:sp>
      <p:pic>
        <p:nvPicPr>
          <p:cNvPr id="8" name="Picture 7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527" y="1234440"/>
            <a:ext cx="5120640" cy="29378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Structured Event Extraction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53212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EXTRACTOR — FinBERT + multi-head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12064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Type head — 20-way event-type softmax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Span heads — subject / object boundaries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Magnitude head — scalar event intensity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Aux heads — scope / novelty / credibility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25880"/>
            <a:ext cx="5440680" cy="27889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4630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WEAK SUPERVISION + HYBRID CORRECTION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1874519"/>
            <a:ext cx="50292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Silver labels from GPT-4 / DeepSeek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Rule correction for surprise:  (actual − expected) / |expected|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Novelty from sentence-embedding similarity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Credibility from a URL-domain whitelist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=  (Subject, Action, Object, Magnitude)  +  impact profile { polarity, surprise, scope, novelty, credibility }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10,901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events extracted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55848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55848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55848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event types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5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63055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63055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decoder heads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0263" y="4754880"/>
            <a:ext cx="2651760" cy="105156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0263" y="4882896"/>
            <a:ext cx="26517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E3861F"/>
                </a:solidFill>
                <a:latin typeface="Calibri"/>
              </a:rPr>
              <a:t>84.8%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3" y="5358384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FFFFFF"/>
                </a:solidFill>
                <a:latin typeface="Calibri"/>
              </a:rPr>
              <a:t>avg attr. coverage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The Three Data-Driven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128016" cy="13716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490472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Novelty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938528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Decays the weight of repeated reporting; novel = 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755648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novelty = 1 − max sim(textᵢ, recent same-ticker news)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944368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44368"/>
            <a:ext cx="128016" cy="13716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06323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Credibility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511296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3-tier domain whitelist; robust to missing Publisher / Author.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328415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3447287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credibility = score( domain(URLᵢ) 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17136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17136"/>
            <a:ext cx="128016" cy="1371600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36007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D3A5F"/>
                </a:solidFill>
                <a:latin typeface="Calibri"/>
              </a:rPr>
              <a:t>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84064"/>
            <a:ext cx="4937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Down-weights ticker assignment when news is not single-stock.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0" y="4901183"/>
            <a:ext cx="5486400" cy="60350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5020055"/>
            <a:ext cx="5212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43748"/>
                </a:solidFill>
                <a:latin typeface="Consolas"/>
              </a:rPr>
              <a:t>scope ∈ { single, sector, market, global 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Lag-Aware Event-Type Causal Discovery (STACD)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212080" cy="42976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6304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OBJECTIVE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4800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A ∈ (0,1)²⁰ˣ²⁰ — directed event-type strength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T_lag ∈ ℝ₊²⁰ˣ²⁰ — expected delay (days)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00400"/>
            <a:ext cx="48006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Time-direction mask — only past attends to future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Gaussian lag gate — attention peaks at the learned lag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Causal-strength gate — type-pair prior in log-space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DAG regularization — NOTEARS acyclicity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1325880"/>
            <a:ext cx="5669280" cy="42976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212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MECHANISM — sparse temporal attention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gᵢⱼ = exp( −(|tᵢ−tⱼ| − T_lag[kⱼ,kᵢ])² / 2σ² 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2532888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s̃ᵢⱼ = sᵢⱼ + log mᵢⱼ + log gᵢⱼ + log A[kⱼ,kᵢ]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3099815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αᵢⱼ = softmaxⱼ ( s̃ᵢⱼ 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3666744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L = L_pred + λ₁‖A‖₁ + λ_DAG · h(A)²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4233672"/>
            <a:ext cx="5120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onsolas"/>
              </a:rPr>
              <a:t>h(A) = tr( e^{A⊙A} ) − K        (NOTEARS)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983480"/>
            <a:ext cx="5120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1">
                <a:solidFill>
                  <a:srgbClr val="C9D6E3"/>
                </a:solidFill>
                <a:latin typeface="Calibri"/>
              </a:rPr>
              <a:t>Nodes are event types, not stocks — the graph transfers across companies.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Phase 2 Result — The Causal Graph Did Not 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43748"/>
                </a:solidFill>
                <a:latin typeface="Calibri"/>
              </a:rPr>
              <a:t>STACD trained 12 epochs on 9,527 real event sequences — a clear, honestly-reported negative result:</a:t>
            </a:r>
          </a:p>
        </p:txBody>
      </p:sp>
      <p:pic>
        <p:nvPicPr>
          <p:cNvPr id="9" name="Picture 8" descr="fig_causal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83080"/>
            <a:ext cx="3246120" cy="138491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89520" y="1691640"/>
            <a:ext cx="4114800" cy="40690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1828800"/>
            <a:ext cx="3703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2492F"/>
                </a:solidFill>
                <a:latin typeface="Calibri"/>
              </a:rPr>
              <a:t>DIAGNOSED NEGATIVE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2240280"/>
            <a:ext cx="3749039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Trained A: mean 0.267, std 0.048 — identical to its initialization (0.269 / 0.048).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Across 12 epochs A barely moves (mean change 0.005 per entry).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STACD prediction head ≈ 0.5 (random) — almost no gradient reaches the graph.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950" b="1" i="0">
                <a:solidFill>
                  <a:srgbClr val="1D3A5F"/>
                </a:solidFill>
                <a:latin typeface="Calibri"/>
              </a:rPr>
              <a:t>→ same weak forward signal as the chronological collapse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852160"/>
            <a:ext cx="11155680" cy="658368"/>
          </a:xfrm>
          <a:prstGeom prst="roundRect">
            <a:avLst/>
          </a:prstGeom>
          <a:solidFill>
            <a:srgbClr val="FBE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980176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D3A5F"/>
                </a:solidFill>
                <a:latin typeface="Calibri"/>
              </a:rPr>
              <a:t>Honest takeaway: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end-to-end causal discovery is not identifiable on a low-signal target — next step: estimate the graph from observed lagged co-occurrence.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03  ·  METHOD — 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Prediction Layer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11109960" cy="13716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44752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FEATURE STACK  —  132-dimensional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Price  28-d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returns, volatility, log-volume, OHLC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Event  82-d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type counts, signed/abs magnitude, last 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1828800"/>
            <a:ext cx="3474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D3A5F"/>
                </a:solidFill>
                <a:latin typeface="Calibri"/>
              </a:rPr>
              <a:t>Stock  22-d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2157984"/>
            <a:ext cx="3474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6B7785"/>
                </a:solidFill>
                <a:latin typeface="Calibri"/>
              </a:rPr>
              <a:t>one-hot ticker identity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2926080"/>
            <a:ext cx="5440680" cy="26974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063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WHY HISTGRADIENTBOOSTING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3429000"/>
            <a:ext cx="49834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Handles heterogeneous features (counts, ratios, one-hots)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Strong yet transparent — readable vs heavy neural nets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Scale-invariant tree splits — no feature scaling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max_iter 150 · lr 0.04 · L2 0.05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926080"/>
            <a:ext cx="5440680" cy="269748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0632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CAUSAL ENSEMBLE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429000"/>
            <a:ext cx="498348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Tabular features  +  learned causal-temporal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C9D6E3"/>
                </a:solidFill>
                <a:latin typeface="Calibri"/>
              </a:rPr>
              <a:t>event representations from Phase 2 / 3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Meta-ensemble over several gradient-boosted heads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0" i="0">
                <a:solidFill>
                  <a:srgbClr val="C9D6E3"/>
                </a:solidFill>
                <a:latin typeface="Calibri"/>
              </a:rPr>
              <a:t>→ this is the configuration that reaches 0.709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1 — Auxiliary Attribute Coverage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15</a:t>
            </a:r>
          </a:p>
        </p:txBody>
      </p:sp>
      <p:pic>
        <p:nvPicPr>
          <p:cNvPr id="8" name="Picture 7" descr="fig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17320"/>
            <a:ext cx="4023360" cy="231492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315200" y="1417320"/>
            <a:ext cx="4389120" cy="411480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1554480"/>
            <a:ext cx="4023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TAKEAWAYS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965960"/>
            <a:ext cx="4023360" cy="3383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Polarity, scope, novelty, credibility — ~85% coverage: dense, usable signals.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50" b="0" i="0">
                <a:solidFill>
                  <a:srgbClr val="243748"/>
                </a:solidFill>
                <a:latin typeface="Calibri"/>
              </a:rPr>
              <a:t>Surprise — only 6.6%: sparse but high-value, concentrated in earnings &amp; macro.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→ treat the four as standard features; treat surprise as a sparse high-information indicator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2 — Main Results &amp; Ablation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16</a:t>
            </a:r>
          </a:p>
        </p:txBody>
      </p:sp>
      <p:pic>
        <p:nvPicPr>
          <p:cNvPr id="8" name="Picture 7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3703320" cy="1949775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12480" y="1371600"/>
            <a:ext cx="3291840" cy="466344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13648" y="1508760"/>
            <a:ext cx="3017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3648" y="1920240"/>
            <a:ext cx="29718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Tabular news+price+stock — 0.693 macro-F1.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Causal ensemble — 0.709: a consistent +1.6-point gain.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50" b="0" i="0">
                <a:solidFill>
                  <a:srgbClr val="243748"/>
                </a:solidFill>
                <a:latin typeface="Calibri"/>
              </a:rPr>
              <a:t>ODE-only variants stay below the tabular baseline — not featured.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15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00" b="0" i="0">
                <a:solidFill>
                  <a:srgbClr val="243748"/>
                </a:solidFill>
                <a:latin typeface="Calibri"/>
              </a:rPr>
              <a:t>single seed — read as a preliminary point estimate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04  · 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Experiment 3 — Honest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17</a:t>
            </a:r>
          </a:p>
        </p:txBody>
      </p:sp>
      <p:pic>
        <p:nvPicPr>
          <p:cNvPr id="8" name="Picture 7" descr="fig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114800" cy="2756576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0" y="1371600"/>
            <a:ext cx="5303520" cy="461772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517904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3861F"/>
                </a:solidFill>
                <a:latin typeface="Calibri"/>
              </a:rPr>
              <a:t>THREE HONEST READINGS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4892040" cy="3840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Stratified 0.693 — features carry usable signal in-distribution.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Chronological 0.337 ≈ random 0.333 — forward-time direction at ±0.5% is near-impossible (consistent with semi-strong market efficiency).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200" b="0" i="0">
                <a:solidFill>
                  <a:srgbClr val="243748"/>
                </a:solidFill>
                <a:latin typeface="Calibri"/>
              </a:rPr>
              <a:t>FLAT collapses under the time split — the model degenerates to the majority classes.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6B7785"/>
                </a:solidFill>
                <a:latin typeface="Calibri"/>
              </a:rPr>
              <a:t>      </a:t>
            </a:r>
            <a:r>
              <a:rPr sz="1050" b="1" i="0">
                <a:solidFill>
                  <a:srgbClr val="1D3A5F"/>
                </a:solidFill>
                <a:latin typeface="Calibri"/>
              </a:rPr>
              <a:t>Stratified-only reporting would overstate real predictive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05  · 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Limits, What We Learned, 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371600"/>
            <a:ext cx="3520440" cy="457200"/>
          </a:xfrm>
          <a:prstGeom prst="rect">
            <a:avLst/>
          </a:prstGeom>
          <a:solidFill>
            <a:srgbClr val="2F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EDA-driven attribute design is the strongest, most defensible contribution.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Three negative results share one cause — the weak forward-time signal.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Stratified-only reporting overstates real-world power.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70248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70248" y="1371600"/>
            <a:ext cx="3520440" cy="457200"/>
          </a:xfrm>
          <a:prstGeom prst="rect">
            <a:avLst/>
          </a:prstGeom>
          <a:solidFill>
            <a:srgbClr val="C249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53128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End-to-end causal discovery did not learn — graph stays at initialization.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Neural-ODE propagation overfits — low-SNR daily data, high-capacity continuous-time models fit noise.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Single seed; 5% subset; 22 tickers limit regime coverage.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91856" y="1371600"/>
            <a:ext cx="3520440" cy="4526280"/>
          </a:xfrm>
          <a:prstGeom prst="round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91856" y="1371600"/>
            <a:ext cx="3520440" cy="457200"/>
          </a:xfrm>
          <a:prstGeom prst="rect">
            <a:avLst/>
          </a:prstGeom>
          <a:solidFill>
            <a:srgbClr val="2E6F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74736" y="144475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FUTURE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1965960"/>
            <a:ext cx="3200400" cy="374903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Event-type graph from lagged co-occurrence (no end-to-end gradient).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Multi-seed confidence intervals; rolling walk-forward validation.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E3861F"/>
                </a:solidFill>
                <a:latin typeface="Calibri"/>
              </a:rPr>
              <a:t>▪  </a:t>
            </a:r>
            <a:r>
              <a:rPr sz="1100" b="0" i="0">
                <a:solidFill>
                  <a:srgbClr val="243748"/>
                </a:solidFill>
                <a:latin typeface="Calibri"/>
              </a:rPr>
              <a:t>LLM-assisted surprise extraction to lift its 6.6% coverage.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96112"/>
            <a:ext cx="12191695" cy="50292"/>
          </a:xfrm>
          <a:prstGeom prst="rect">
            <a:avLst/>
          </a:prstGeom>
          <a:solidFill>
            <a:srgbClr val="E386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9144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3861F"/>
                </a:solidFill>
                <a:latin typeface="Calibri"/>
              </a:rPr>
              <a:t>REFERENCES &amp; Q&amp;A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301752"/>
            <a:ext cx="111556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FFFFFF"/>
                </a:solidFill>
                <a:latin typeface="Calibri"/>
              </a:rPr>
              <a:t>Key References  · 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9224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EventChain  ·  CS173 Data Mining  ·  Team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785"/>
                </a:solidFill>
                <a:latin typeface="Calibri"/>
              </a:rPr>
              <a:t>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44475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Baseline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1426464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Li et al.  CausalStock: Deep End-to-end Causal Discovery for News-driven Stock Movement Prediction.  NeurIPS 2024.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938528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011680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1993392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Dong et al.  FNSPID: A Comprehensive Financial News Dataset in Time Series.  KDD ADS 2024.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505456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578608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NLP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560320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Araci.  FinBERT: Financial Sentiment Analysis with Pre-trained Language Models.  arXiv 2019.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072384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145536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Causal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127248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Zheng et al.  DAGs with NO TEARS.  NeurIPS 2018.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639312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712463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Causal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694176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Tank et al.  Neural Granger Causality.  TPAMI 2022.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206240"/>
            <a:ext cx="1143000" cy="420624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279392"/>
            <a:ext cx="1143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E3861F"/>
                </a:solidFill>
                <a:latin typeface="Calibri"/>
              </a:rPr>
              <a:t>Caveat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28800" y="4261103"/>
            <a:ext cx="9784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43748"/>
                </a:solidFill>
                <a:latin typeface="Calibri"/>
              </a:rPr>
              <a:t>Reisach et al.  Beware of the Simulated DAG!  NeurIPS 2021.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983480"/>
            <a:ext cx="11109960" cy="1371600"/>
          </a:xfrm>
          <a:prstGeom prst="roundRect">
            <a:avLst/>
          </a:prstGeom>
          <a:solidFill>
            <a:srgbClr val="1D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257800"/>
            <a:ext cx="11109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Q &amp; A   —   Thank you for listening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06440"/>
            <a:ext cx="11109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DB0C4"/>
                </a:solidFill>
                <a:latin typeface="Calibri"/>
              </a:rPr>
              <a:t>EventChain  ·  CS173 Data Mining Final  ·  Team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