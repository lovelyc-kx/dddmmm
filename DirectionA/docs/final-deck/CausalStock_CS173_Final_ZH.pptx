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79776"/>
            <a:ext cx="12191695" cy="54864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3861F"/>
                </a:solidFill>
                <a:latin typeface="Microsoft YaHei"/>
              </a:rPr>
              <a:t>CS173  ·  数据挖掘  ·  期末项目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123444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400" b="1" i="0">
                <a:solidFill>
                  <a:srgbClr val="FFFFFF"/>
                </a:solidFill>
                <a:latin typeface="Microsoft YaHei"/>
              </a:rPr>
              <a:t>CausalStock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12848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0" i="0">
                <a:solidFill>
                  <a:srgbClr val="C9D6E3"/>
                </a:solidFill>
                <a:latin typeface="Microsoft YaHei"/>
              </a:rPr>
              <a:t>面向新闻驱动股价预测的事件结构化时序因果建模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611880"/>
            <a:ext cx="3383280" cy="1143000"/>
          </a:xfrm>
          <a:prstGeom prst="roundRect">
            <a:avLst/>
          </a:prstGeom>
          <a:solidFill>
            <a:srgbClr val="27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3749039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3861F"/>
                </a:solidFill>
                <a:latin typeface="Microsoft YaHei"/>
              </a:rPr>
              <a:t>数据驱动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114800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Microsoft YaHei"/>
              </a:rPr>
              <a:t>3 个 EDA 发现 → 3 个新事件属性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3611880"/>
            <a:ext cx="3383280" cy="1143000"/>
          </a:xfrm>
          <a:prstGeom prst="roundRect">
            <a:avLst/>
          </a:prstGeom>
          <a:solidFill>
            <a:srgbClr val="27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3749039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3861F"/>
                </a:solidFill>
                <a:latin typeface="Microsoft YaHei"/>
              </a:rPr>
              <a:t>结构化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4114800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Microsoft YaHei"/>
              </a:rPr>
              <a:t>20 类结构化事件,而非单一情感分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3611880"/>
            <a:ext cx="3383280" cy="1143000"/>
          </a:xfrm>
          <a:prstGeom prst="roundRect">
            <a:avLst/>
          </a:prstGeom>
          <a:solidFill>
            <a:srgbClr val="27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3749039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3861F"/>
                </a:solidFill>
                <a:latin typeface="Microsoft YaHei"/>
              </a:rPr>
              <a:t>诚实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4114800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Microsoft YaHei"/>
              </a:rPr>
              <a:t>分层 + 时间 双划分报告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8521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DB0C4"/>
                </a:solidFill>
                <a:latin typeface="Microsoft YaHei"/>
              </a:rPr>
              <a:t>第二组     ·     CS173 期末项目     ·     2026 年 5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Microsoft YaHei"/>
              </a:rPr>
              <a:t>汇报目录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FFFFFF"/>
                </a:solidFill>
                <a:latin typeface="Microsoft YaHei"/>
              </a:rPr>
              <a:t>目录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Microsoft YaHei"/>
              </a:rPr>
              <a:t>CausalStock  ·  CS173 数据挖掘  ·  第二组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Microsoft YaHe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80160"/>
            <a:ext cx="914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D9E2EC"/>
                </a:solidFill>
                <a:latin typeface="Microsoft YaHei"/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1645920" y="1325880"/>
            <a:ext cx="54864" cy="566928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20240" y="1280160"/>
            <a:ext cx="96926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D3A5F"/>
                </a:solidFill>
                <a:latin typeface="Microsoft YaHei"/>
              </a:rPr>
              <a:t>问题与基线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1682495"/>
            <a:ext cx="9784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B7785"/>
                </a:solidFill>
                <a:latin typeface="Microsoft YaHei"/>
              </a:rPr>
              <a:t>现有方法的局限、CausalStock 基线、我们的创新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49424"/>
            <a:ext cx="914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D9E2EC"/>
                </a:solidFill>
                <a:latin typeface="Microsoft YaHei"/>
              </a:rPr>
              <a:t>02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45920" y="2295144"/>
            <a:ext cx="54864" cy="566928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20240" y="2249424"/>
            <a:ext cx="96926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D3A5F"/>
                </a:solidFill>
                <a:latin typeface="Microsoft YaHei"/>
              </a:rPr>
              <a:t>数据分析 (EDA)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2651760"/>
            <a:ext cx="9784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B7785"/>
                </a:solidFill>
                <a:latin typeface="Microsoft YaHei"/>
              </a:rPr>
              <a:t>四部分的探索性数据分析,驱动事件 schema 设计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18688"/>
            <a:ext cx="914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D9E2EC"/>
                </a:solidFill>
                <a:latin typeface="Microsoft YaHei"/>
              </a:rPr>
              <a:t>03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5920" y="3264408"/>
            <a:ext cx="54864" cy="566928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20240" y="3218688"/>
            <a:ext cx="96926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D3A5F"/>
                </a:solidFill>
                <a:latin typeface="Microsoft YaHei"/>
              </a:rPr>
              <a:t>方法 —— 三个阶段逐一详解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3621024"/>
            <a:ext cx="9784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B7785"/>
                </a:solidFill>
                <a:latin typeface="Microsoft YaHei"/>
              </a:rPr>
              <a:t>Phase 1 抽取 · Phase 2 因果发现 · Phase 3 预测 —— 每个阶段都详细展开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187952"/>
            <a:ext cx="914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D9E2EC"/>
                </a:solidFill>
                <a:latin typeface="Microsoft YaHei"/>
              </a:rPr>
              <a:t>04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645920" y="4233672"/>
            <a:ext cx="54864" cy="566928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20240" y="4187952"/>
            <a:ext cx="96926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D3A5F"/>
                </a:solidFill>
                <a:latin typeface="Microsoft YaHei"/>
              </a:rPr>
              <a:t>实验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0240" y="4590288"/>
            <a:ext cx="9784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B7785"/>
                </a:solidFill>
                <a:latin typeface="Microsoft YaHei"/>
              </a:rPr>
              <a:t>分层 vs 时间 划分结果,以及消融实验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157216"/>
            <a:ext cx="914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D9E2EC"/>
                </a:solidFill>
                <a:latin typeface="Microsoft YaHei"/>
              </a:rPr>
              <a:t>05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645920" y="5202936"/>
            <a:ext cx="54864" cy="566928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920240" y="5157216"/>
            <a:ext cx="96926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D3A5F"/>
                </a:solidFill>
                <a:latin typeface="Microsoft YaHei"/>
              </a:rPr>
              <a:t>对比与结论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20240" y="5559552"/>
            <a:ext cx="9784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B7785"/>
                </a:solidFill>
                <a:latin typeface="Microsoft YaHei"/>
              </a:rPr>
              <a:t>与基线的多维对比,以及未来工作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Microsoft YaHei"/>
              </a:rPr>
              <a:t>01  ·  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FFFFFF"/>
                </a:solidFill>
                <a:latin typeface="Microsoft YaHei"/>
              </a:rPr>
              <a:t>现有方法的三大问题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Microsoft YaHei"/>
              </a:rPr>
              <a:t>CausalStock  ·  CS173 数据挖掘  ·  第二组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Microsoft YaHe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43748"/>
                </a:solidFill>
                <a:latin typeface="Microsoft YaHei"/>
              </a:rPr>
              <a:t>多数新闻驱动模型把每篇文章压成一个情感分数,由此带来三个问题: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11109960" cy="1298448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783080"/>
            <a:ext cx="128016" cy="1298448"/>
          </a:xfrm>
          <a:prstGeom prst="rect">
            <a:avLst/>
          </a:prstGeom>
          <a:solidFill>
            <a:srgbClr val="C24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892807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D3A5F"/>
                </a:solidFill>
                <a:latin typeface="Microsoft YaHei"/>
              </a:rPr>
              <a:t>1.  信息损失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276856"/>
            <a:ext cx="7132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43748"/>
                </a:solidFill>
                <a:latin typeface="Microsoft YaHei"/>
              </a:rPr>
              <a:t>单一情感分丢掉了事件的类型、幅度与影响对象。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79" y="1965960"/>
            <a:ext cx="329184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785"/>
                </a:solidFill>
                <a:latin typeface="Microsoft YaHei"/>
              </a:rPr>
              <a:t>「苹果发布 iPhone,预期上调 20%」→ 情感分 +0.8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264408"/>
            <a:ext cx="11109960" cy="1298448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264408"/>
            <a:ext cx="128016" cy="1298448"/>
          </a:xfrm>
          <a:prstGeom prst="rect">
            <a:avLst/>
          </a:prstGeom>
          <a:solidFill>
            <a:srgbClr val="C24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374136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D3A5F"/>
                </a:solidFill>
                <a:latin typeface="Microsoft YaHei"/>
              </a:rPr>
              <a:t>2.  缺乏因果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758184"/>
            <a:ext cx="7132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43748"/>
                </a:solidFill>
                <a:latin typeface="Microsoft YaHei"/>
              </a:rPr>
              <a:t>模型只抓表面相关,不理解事件间逻辑,也无法解释预测。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79" y="3447288"/>
            <a:ext cx="329184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785"/>
                </a:solidFill>
                <a:latin typeface="Microsoft YaHei"/>
              </a:rPr>
              <a:t>无法区分加息是直接作用还是经由盈利预期间接作用。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745736"/>
            <a:ext cx="11109960" cy="1298448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745736"/>
            <a:ext cx="128016" cy="1298448"/>
          </a:xfrm>
          <a:prstGeom prst="rect">
            <a:avLst/>
          </a:prstGeom>
          <a:solidFill>
            <a:srgbClr val="C24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855464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D3A5F"/>
                </a:solidFill>
                <a:latin typeface="Microsoft YaHei"/>
              </a:rPr>
              <a:t>3.  忽视时间动态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239512"/>
            <a:ext cx="7132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43748"/>
                </a:solidFill>
                <a:latin typeface="Microsoft YaHei"/>
              </a:rPr>
              <a:t>把新闻影响当作瞬时的,忽略滞后、扩散与持续发酵。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79" y="4928616"/>
            <a:ext cx="329184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785"/>
                </a:solidFill>
                <a:latin typeface="Microsoft YaHei"/>
              </a:rPr>
              <a:t>政策变动可能数天后才在价格上显现。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Microsoft YaHei"/>
              </a:rPr>
              <a:t>01  ·  基线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FFFFFF"/>
                </a:solidFill>
                <a:latin typeface="Microsoft YaHei"/>
              </a:rPr>
              <a:t>基线 —— CausalStock (NeurIPS 2024)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Microsoft YaHei"/>
              </a:rPr>
              <a:t>CausalStock  ·  CS173 数据挖掘  ·  第二组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Microsoft YaHe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801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3861F"/>
                </a:solidFill>
                <a:latin typeface="Microsoft YaHei"/>
              </a:rPr>
              <a:t>基线做了什么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64208"/>
            <a:ext cx="5349240" cy="105156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664208"/>
            <a:ext cx="109728" cy="1051560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773936"/>
            <a:ext cx="4983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D3A5F"/>
                </a:solidFill>
                <a:latin typeface="Microsoft YaHei"/>
              </a:rPr>
              <a:t>去噪新闻编码器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21408"/>
            <a:ext cx="4983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43748"/>
                </a:solidFill>
                <a:latin typeface="Microsoft YaHei"/>
              </a:rPr>
              <a:t>用 LLM 把每篇文章压成一个稠密嵌入向量。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664208"/>
            <a:ext cx="5349240" cy="105156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664208"/>
            <a:ext cx="109728" cy="1051560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773936"/>
            <a:ext cx="4983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D3A5F"/>
                </a:solidFill>
                <a:latin typeface="Microsoft YaHei"/>
              </a:rPr>
              <a:t>个股级因果图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121408"/>
            <a:ext cx="4983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43748"/>
                </a:solidFill>
                <a:latin typeface="Microsoft YaHei"/>
              </a:rPr>
              <a:t>在个股之间学习带滞后的因果关系。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926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3861F"/>
                </a:solidFill>
                <a:latin typeface="Microsoft YaHei"/>
              </a:rPr>
              <a:t>两个盲点 —— 以及我们的对策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548640" y="3310128"/>
          <a:ext cx="11109960" cy="170078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532120"/>
                <a:gridCol w="5577840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基线的盲点</a:t>
                      </a:r>
                    </a:p>
                  </a:txBody>
                  <a:tcPr anchor="ctr" marL="73152" marR="45720" marT="18288" marB="18288">
                    <a:solidFill>
                      <a:srgbClr val="1D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我们的对策</a:t>
                      </a:r>
                    </a:p>
                  </a:txBody>
                  <a:tcPr anchor="ctr" marL="73152" marR="45720" marT="18288" marB="18288">
                    <a:solidFill>
                      <a:srgbClr val="1D3A5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243748"/>
                          </a:solidFill>
                          <a:latin typeface="Microsoft YaHei"/>
                        </a:rPr>
                        <a:t>一篇一个向量,藏掉了事件类型、幅度、影响对象</a:t>
                      </a:r>
                    </a:p>
                  </a:txBody>
                  <a:tcPr anchor="ctr" marL="73152" marR="45720" marT="18288" marB="18288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43748"/>
                          </a:solidFill>
                          <a:latin typeface="Microsoft YaHei"/>
                        </a:rPr>
                        <a:t>结构化事件:(主体,行为,对象,幅度) + 影响画像</a:t>
                      </a:r>
                    </a:p>
                  </a:txBody>
                  <a:tcPr anchor="ctr" marL="73152" marR="45720" marT="18288" marB="18288">
                    <a:solidFill>
                      <a:srgbClr val="EEF2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243748"/>
                          </a:solidFill>
                          <a:latin typeface="Microsoft YaHei"/>
                        </a:rPr>
                        <a:t>个股级的图说不出是什么事件驱动了这条边</a:t>
                      </a:r>
                    </a:p>
                  </a:txBody>
                  <a:tcPr anchor="ctr" marL="73152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43748"/>
                          </a:solidFill>
                          <a:latin typeface="Microsoft YaHei"/>
                        </a:rPr>
                        <a:t>20 个事件类型上的因果图,可跨公司迁移</a:t>
                      </a:r>
                    </a:p>
                  </a:txBody>
                  <a:tcPr anchor="ctr" marL="73152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Rounded Rectangle 18"/>
          <p:cNvSpPr/>
          <p:nvPr/>
        </p:nvSpPr>
        <p:spPr>
          <a:xfrm>
            <a:off x="548640" y="5257800"/>
            <a:ext cx="11109960" cy="86868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422392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3861F"/>
                </a:solidFill>
                <a:latin typeface="Microsoft YaHei"/>
              </a:rPr>
              <a:t>结论:  </a:t>
            </a:r>
            <a:r>
              <a:rPr sz="1250" b="0" i="0">
                <a:solidFill>
                  <a:srgbClr val="FFFFFF"/>
                </a:solidFill>
                <a:latin typeface="Microsoft YaHei"/>
              </a:rPr>
              <a:t>基线很强但对结构盲视 —— 我们恢复事件结构,并把因果移到事件类型级。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Microsoft YaHei"/>
              </a:rPr>
              <a:t>01  ·  创新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FFFFFF"/>
                </a:solidFill>
                <a:latin typeface="Microsoft YaHei"/>
              </a:rPr>
              <a:t>我们改变了什么 —— 三个创新点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Microsoft YaHei"/>
              </a:rPr>
              <a:t>CausalStock  ·  CS173 数据挖掘  ·  第二组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Microsoft YaHe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43748"/>
                </a:solidFill>
                <a:latin typeface="Microsoft YaHei"/>
              </a:rPr>
              <a:t>现有方法的每个问题,精确对应一项设计改变: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691640"/>
          <a:ext cx="11109960" cy="2633472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029200"/>
                <a:gridCol w="6080760"/>
              </a:tblGrid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现有方法的问题</a:t>
                      </a:r>
                    </a:p>
                  </a:txBody>
                  <a:tcPr anchor="ctr" marL="73152" marR="45720" marT="18288" marB="18288">
                    <a:solidFill>
                      <a:srgbClr val="1D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CausalStock 的创新</a:t>
                      </a:r>
                    </a:p>
                  </a:txBody>
                  <a:tcPr anchor="ctr" marL="73152" marR="45720" marT="18288" marB="18288">
                    <a:solidFill>
                      <a:srgbClr val="1D3A5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43748"/>
                          </a:solidFill>
                          <a:latin typeface="Microsoft YaHei"/>
                        </a:rPr>
                        <a:t>信息损失(情感标量)</a:t>
                      </a:r>
                    </a:p>
                  </a:txBody>
                  <a:tcPr anchor="ctr" marL="73152" marR="45720" marT="18288" marB="18288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43748"/>
                          </a:solidFill>
                          <a:latin typeface="Microsoft YaHei"/>
                        </a:rPr>
                        <a:t>结构化事件:(主体,行为,对象,幅度) + 影响画像</a:t>
                      </a:r>
                    </a:p>
                  </a:txBody>
                  <a:tcPr anchor="ctr" marL="73152" marR="45720" marT="18288" marB="18288">
                    <a:solidFill>
                      <a:srgbClr val="EEF2F7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43748"/>
                          </a:solidFill>
                          <a:latin typeface="Microsoft YaHei"/>
                        </a:rPr>
                        <a:t>缺乏因果</a:t>
                      </a:r>
                    </a:p>
                  </a:txBody>
                  <a:tcPr anchor="ctr" marL="73152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43748"/>
                          </a:solidFill>
                          <a:latin typeface="Microsoft YaHei"/>
                        </a:rPr>
                        <a:t>在 20 个事件类型上做滞后感知因果发现</a:t>
                      </a:r>
                    </a:p>
                  </a:txBody>
                  <a:tcPr anchor="ctr" marL="73152" marR="45720" marT="18288" marB="18288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43748"/>
                          </a:solidFill>
                          <a:latin typeface="Microsoft YaHei"/>
                        </a:rPr>
                        <a:t>忽视时间动态</a:t>
                      </a:r>
                    </a:p>
                  </a:txBody>
                  <a:tcPr anchor="ctr" marL="73152" marR="45720" marT="18288" marB="18288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43748"/>
                          </a:solidFill>
                          <a:latin typeface="Microsoft YaHei"/>
                        </a:rPr>
                        <a:t>学习滞后矩阵 T_lag 与滞后门控注意力</a:t>
                      </a:r>
                    </a:p>
                  </a:txBody>
                  <a:tcPr anchor="ctr" marL="73152" marR="45720" marT="18288" marB="18288"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48640" y="4617720"/>
            <a:ext cx="11109960" cy="146304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773168"/>
            <a:ext cx="10607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3861F"/>
                </a:solidFill>
                <a:latin typeface="Microsoft YaHei"/>
              </a:rPr>
              <a:t>两条原则贯穿这三点: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5138928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Microsoft YaHei"/>
              </a:rPr>
              <a:t>数据驱动 —— 事件 schema 由实测 EDA 得来,而非预设。  诚实 —— 每个结果都同时在分层划分与时间划分下报告。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Microsoft YaHei"/>
              </a:rPr>
              <a:t>01  ·  框架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FFFFFF"/>
                </a:solidFill>
                <a:latin typeface="Microsoft YaHei"/>
              </a:rPr>
              <a:t>端到端技术流程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Microsoft YaHei"/>
              </a:rPr>
              <a:t>CausalStock  ·  CS173 数据挖掘  ·  第二组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Microsoft YaHei"/>
              </a:rPr>
              <a:t>6</a:t>
            </a:r>
          </a:p>
        </p:txBody>
      </p:sp>
      <p:pic>
        <p:nvPicPr>
          <p:cNvPr id="8" name="Picture 7" descr="fig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1247" y="1325880"/>
            <a:ext cx="5029200" cy="268299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35508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0" i="1">
                <a:solidFill>
                  <a:srgbClr val="6B7785"/>
                </a:solidFill>
                <a:latin typeface="Microsoft YaHei"/>
              </a:rPr>
              <a:t>三阶段:抽取结构化事件 → 学习滞后感知的事件类型结构 → 用透明表格模型预测。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Microsoft YaHei"/>
              </a:rPr>
              <a:t>02  ·  数据分析  (1/4)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FFFFFF"/>
                </a:solidFill>
                <a:latin typeface="Microsoft YaHei"/>
              </a:rPr>
              <a:t>数据集概览与字段完整度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Microsoft YaHei"/>
              </a:rPr>
              <a:t>CausalStock  ·  CS173 数据挖掘  ·  第二组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Microsoft YaHei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1371600" cy="105156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490472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E3861F"/>
                </a:solidFill>
                <a:latin typeface="Microsoft YaHei"/>
              </a:rPr>
              <a:t>10,901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938528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FFFFFF"/>
                </a:solidFill>
                <a:latin typeface="Microsoft YaHei"/>
              </a:rPr>
              <a:t>结构化事件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29968" y="1371600"/>
            <a:ext cx="1371600" cy="105156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29968" y="1490472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E3861F"/>
                </a:solidFill>
                <a:latin typeface="Microsoft YaHei"/>
              </a:rPr>
              <a:t>9,566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29968" y="1938528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FFFFFF"/>
                </a:solidFill>
                <a:latin typeface="Microsoft YaHei"/>
              </a:rPr>
              <a:t>个股对齐样本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11296" y="1371600"/>
            <a:ext cx="1371600" cy="105156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11296" y="1490472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E3861F"/>
                </a:solidFill>
                <a:latin typeface="Microsoft YaHei"/>
              </a:rPr>
              <a:t>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11296" y="1938528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FFFFFF"/>
                </a:solidFill>
                <a:latin typeface="Microsoft YaHei"/>
              </a:rPr>
              <a:t>只股票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2624" y="1371600"/>
            <a:ext cx="1371600" cy="105156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92624" y="1490472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E3861F"/>
                </a:solidFill>
                <a:latin typeface="Microsoft YaHei"/>
              </a:rPr>
              <a:t>2010–23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92624" y="1938528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FFFFFF"/>
                </a:solidFill>
                <a:latin typeface="Microsoft YaHei"/>
              </a:rPr>
              <a:t>时间跨度</a:t>
            </a:r>
          </a:p>
        </p:txBody>
      </p:sp>
      <p:pic>
        <p:nvPicPr>
          <p:cNvPr id="20" name="Picture 19" descr="fig_eda_mis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97480"/>
            <a:ext cx="3200400" cy="1706578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6858000" y="1371600"/>
            <a:ext cx="4846320" cy="461772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86600" y="1517904"/>
            <a:ext cx="4480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3861F"/>
                </a:solidFill>
                <a:latin typeface="Microsoft YaHei"/>
              </a:rPr>
              <a:t>观察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1938528"/>
            <a:ext cx="448056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1150" b="0" i="0">
                <a:solidFill>
                  <a:srgbClr val="243748"/>
                </a:solidFill>
                <a:latin typeface="Microsoft YaHei"/>
              </a:rPr>
              <a:t>URL 完整 99.98%,Stock_symbol 67%,Author 32%,Publisher 21%。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6B7785"/>
                </a:solidFill>
                <a:latin typeface="Microsoft YaHei"/>
              </a:rPr>
              <a:t>      </a:t>
            </a:r>
            <a:r>
              <a:rPr sz="1000" b="0" i="0">
                <a:solidFill>
                  <a:srgbClr val="243748"/>
                </a:solidFill>
                <a:latin typeface="Microsoft YaHei"/>
              </a:rPr>
              <a:t>→ publisher / author 太稀疏无法监督;credibility 改由 URL 域名导出。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1150" b="0" i="0">
                <a:solidFill>
                  <a:srgbClr val="243748"/>
                </a:solidFill>
                <a:latin typeface="Microsoft YaHei"/>
              </a:rPr>
              <a:t>重复标题行:36,248 条(约 29%)。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6B7785"/>
                </a:solidFill>
                <a:latin typeface="Microsoft YaHei"/>
              </a:rPr>
              <a:t>      </a:t>
            </a:r>
            <a:r>
              <a:rPr sz="1000" b="0" i="0">
                <a:solidFill>
                  <a:srgbClr val="243748"/>
                </a:solidFill>
                <a:latin typeface="Microsoft YaHei"/>
              </a:rPr>
              <a:t>→ 同一事件被反复报道;由此引出 novelty 属性。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1150" b="0" i="0">
                <a:solidFill>
                  <a:srgbClr val="243748"/>
                </a:solidFill>
                <a:latin typeface="Microsoft YaHei"/>
              </a:rPr>
              <a:t>文章长度:中位 3,724 / p90 6,949 / p99 29,925 字符。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Microsoft YaHei"/>
              </a:rPr>
              <a:t>02  ·  数据分析  (2/4)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FFFFFF"/>
                </a:solidFill>
                <a:latin typeface="Microsoft YaHei"/>
              </a:rPr>
              <a:t>事件线索密度 —— 为何要做事件抽取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Microsoft YaHei"/>
              </a:rPr>
              <a:t>CausalStock  ·  CS173 数据挖掘  ·  第二组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Microsoft YaHei"/>
              </a:rPr>
              <a:t>8</a:t>
            </a:r>
          </a:p>
        </p:txBody>
      </p:sp>
      <p:pic>
        <p:nvPicPr>
          <p:cNvPr id="8" name="Picture 7" descr="fig_eda_cl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63040"/>
            <a:ext cx="3931920" cy="2122856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02920" y="5212080"/>
            <a:ext cx="11201400" cy="114300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34924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Microsoft YaHei"/>
              </a:rPr>
              <a:t>88% 的文章带明确的价格变动语言、77% 带数值比较 —— 语料不是弥散的观点,而是一串离散、可归类的事件。这就是「做结构化事件抽取而非打情感分」的实证依据。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Microsoft YaHei"/>
              </a:rPr>
              <a:t>02  ·  数据分析  (3/4)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FFFFFF"/>
                </a:solidFill>
                <a:latin typeface="Microsoft YaHei"/>
              </a:rPr>
              <a:t>数据发现驱动 schema 设计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Microsoft YaHei"/>
              </a:rPr>
              <a:t>CausalStock  ·  CS173 数据挖掘  ·  第二组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Microsoft YaHei"/>
              </a:rPr>
              <a:t>9</a:t>
            </a:r>
          </a:p>
        </p:txBody>
      </p:sp>
      <p:pic>
        <p:nvPicPr>
          <p:cNvPr id="8" name="Picture 7" descr="fig_datadriven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8533" y="2468880"/>
            <a:ext cx="6594628" cy="3291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5943600"/>
            <a:ext cx="11109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 i="1">
                <a:solidFill>
                  <a:srgbClr val="6B7785"/>
                </a:solidFill>
                <a:latin typeface="Microsoft YaHei"/>
              </a:rPr>
              <a:t>三个实测特性 —— 29% 重复、68–79% 来源缺失、89% 多范围 —— 各自推导出一个事件属性。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Microsoft YaHei"/>
              </a:rPr>
              <a:t>02  ·  数据分析  (4/4)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FFFFFF"/>
                </a:solidFill>
                <a:latin typeface="Microsoft YaHei"/>
              </a:rPr>
              <a:t>事件流 —— 分布与属性覆盖率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Microsoft YaHei"/>
              </a:rPr>
              <a:t>CausalStock  ·  CS173 数据挖掘  ·  第二组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Microsoft YaHei"/>
              </a:rPr>
              <a:t>10</a:t>
            </a:r>
          </a:p>
        </p:txBody>
      </p:sp>
      <p:pic>
        <p:nvPicPr>
          <p:cNvPr id="8" name="Picture 7" descr="fig_event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1600"/>
            <a:ext cx="3291840" cy="1548780"/>
          </a:xfrm>
          <a:prstGeom prst="rect">
            <a:avLst/>
          </a:prstGeom>
        </p:spPr>
      </p:pic>
      <p:pic>
        <p:nvPicPr>
          <p:cNvPr id="9" name="Picture 8" descr="fig_cover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508760"/>
            <a:ext cx="3154680" cy="1815113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02920" y="4983480"/>
            <a:ext cx="11201400" cy="137160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12064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Microsoft YaHei"/>
              </a:rPr>
              <a:t>事件类型长尾 —— 前三类占全部事件的 55%,所以训练必须类别感知。极性 / 范围 / 新颖度 / 可信度覆盖约 85%,作为标准属性;意外度稀疏(6.6%),作为高价值指示器。50 样本抽审:类型一致 84%、动作 78%、极性 91%。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Microsoft YaHei"/>
              </a:rPr>
              <a:t>03  ·  方法 — PHASE 1 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FFFFFF"/>
                </a:solidFill>
                <a:latin typeface="Microsoft YaHei"/>
              </a:rPr>
              <a:t>Phase 1 —— 结构化事件 schema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Microsoft YaHei"/>
              </a:rPr>
              <a:t>CausalStock  ·  CS173 数据挖掘  ·  第二组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Microsoft YaHei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07008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43748"/>
                </a:solidFill>
                <a:latin typeface="Microsoft YaHei"/>
              </a:rPr>
              <a:t>Phase 1 把每篇自由文本文章变成一条结构化事件记录 —— 一个核心四元组,外加一个五属性的影响画像。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27632"/>
            <a:ext cx="5532120" cy="228600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755648"/>
            <a:ext cx="5074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3861F"/>
                </a:solidFill>
                <a:latin typeface="Microsoft YaHei"/>
              </a:rPr>
              <a:t>事件核心 —— (类型, S, A, O, 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57984"/>
            <a:ext cx="51206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1080" b="0" i="0">
                <a:solidFill>
                  <a:srgbClr val="243748"/>
                </a:solidFill>
                <a:latin typeface="Microsoft YaHei"/>
              </a:rPr>
              <a:t>type —— 20 类事件本体之一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1080" b="0" i="0">
                <a:solidFill>
                  <a:srgbClr val="243748"/>
                </a:solidFill>
                <a:latin typeface="Microsoft YaHei"/>
              </a:rPr>
              <a:t>subject (S) —— 发起动作的主体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1080" b="0" i="0">
                <a:solidFill>
                  <a:srgbClr val="243748"/>
                </a:solidFill>
                <a:latin typeface="Microsoft YaHei"/>
              </a:rPr>
              <a:t>action (A) —— 关系或行为动词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1080" b="0" i="0">
                <a:solidFill>
                  <a:srgbClr val="243748"/>
                </a:solidFill>
                <a:latin typeface="Microsoft YaHei"/>
              </a:rPr>
              <a:t>object (O) —— 被影响的对象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1080" b="0" i="0">
                <a:solidFill>
                  <a:srgbClr val="243748"/>
                </a:solidFill>
                <a:latin typeface="Microsoft YaHei"/>
              </a:rPr>
              <a:t>magnitude (M) —— 带符号的数值幅度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627632"/>
            <a:ext cx="5440680" cy="228600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755648"/>
            <a:ext cx="4983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3861F"/>
                </a:solidFill>
                <a:latin typeface="Microsoft YaHei"/>
              </a:rPr>
              <a:t>20 类本体 —— 四大族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157984"/>
            <a:ext cx="50292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1080" b="0" i="0">
                <a:solidFill>
                  <a:srgbClr val="243748"/>
                </a:solidFill>
                <a:latin typeface="Microsoft YaHei"/>
              </a:rPr>
              <a:t>宏观 —— 利率决议、通胀、GDP、就业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1080" b="0" i="0">
                <a:solidFill>
                  <a:srgbClr val="243748"/>
                </a:solidFill>
                <a:latin typeface="Microsoft YaHei"/>
              </a:rPr>
              <a:t>公司 —— 财报、并购、业绩指引、产品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1080" b="0" i="0">
                <a:solidFill>
                  <a:srgbClr val="243748"/>
                </a:solidFill>
                <a:latin typeface="Microsoft YaHei"/>
              </a:rPr>
              <a:t>知识 —— 分析师评级、研究、预测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1080" b="0" i="0">
                <a:solidFill>
                  <a:srgbClr val="243748"/>
                </a:solidFill>
                <a:latin typeface="Microsoft YaHei"/>
              </a:rPr>
              <a:t>地缘 —— 监管、制裁、冲突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069080"/>
            <a:ext cx="11109960" cy="214884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18795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3861F"/>
                </a:solidFill>
                <a:latin typeface="Microsoft YaHei"/>
              </a:rPr>
              <a:t>影响画像 —— 附在每个事件上的 5 个属性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572000"/>
            <a:ext cx="2011680" cy="914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681728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D3A5F"/>
                </a:solidFill>
                <a:latin typeface="Microsoft YaHei"/>
              </a:rPr>
              <a:t>极性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029200"/>
            <a:ext cx="1920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840" b="0" i="0">
                <a:solidFill>
                  <a:srgbClr val="6B7785"/>
                </a:solidFill>
                <a:latin typeface="Microsoft YaHei"/>
              </a:rPr>
              <a:t>影响的方向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017520" y="4572000"/>
            <a:ext cx="2011680" cy="914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17520" y="4681728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D3A5F"/>
                </a:solidFill>
                <a:latin typeface="Microsoft YaHei"/>
              </a:rPr>
              <a:t>意外度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63239" y="5029200"/>
            <a:ext cx="1920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840" b="0" i="0">
                <a:solidFill>
                  <a:srgbClr val="6B7785"/>
                </a:solidFill>
                <a:latin typeface="Microsoft YaHei"/>
              </a:rPr>
              <a:t>相对预期的偏离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212080" y="4572000"/>
            <a:ext cx="2011680" cy="914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2080" y="4681728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E3861F"/>
                </a:solidFill>
                <a:latin typeface="Microsoft YaHei"/>
              </a:rPr>
              <a:t>范围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7800" y="5029200"/>
            <a:ext cx="1920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840" b="0" i="0">
                <a:solidFill>
                  <a:srgbClr val="6B7785"/>
                </a:solidFill>
                <a:latin typeface="Microsoft YaHei"/>
              </a:rPr>
              <a:t>影响实体的广度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06640" y="4572000"/>
            <a:ext cx="2011680" cy="914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06640" y="4681728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E3861F"/>
                </a:solidFill>
                <a:latin typeface="Microsoft YaHei"/>
              </a:rPr>
              <a:t>新颖度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52360" y="5029200"/>
            <a:ext cx="1920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840" b="0" i="0">
                <a:solidFill>
                  <a:srgbClr val="6B7785"/>
                </a:solidFill>
                <a:latin typeface="Microsoft YaHei"/>
              </a:rPr>
              <a:t>首报 vs 重复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601200" y="4572000"/>
            <a:ext cx="2011680" cy="914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01200" y="4681728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E3861F"/>
                </a:solidFill>
                <a:latin typeface="Microsoft YaHei"/>
              </a:rPr>
              <a:t>可信度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46920" y="5029200"/>
            <a:ext cx="1920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840" b="0" i="0">
                <a:solidFill>
                  <a:srgbClr val="6B7785"/>
                </a:solidFill>
                <a:latin typeface="Microsoft YaHei"/>
              </a:rPr>
              <a:t>来源可靠度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650992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E3861F"/>
                </a:solidFill>
                <a:latin typeface="Microsoft YaHei"/>
              </a:rPr>
              <a:t>用在哪里:  </a:t>
            </a:r>
            <a:r>
              <a:rPr sz="1000" b="0" i="0">
                <a:solidFill>
                  <a:srgbClr val="C9D6E3"/>
                </a:solidFill>
                <a:latin typeface="Microsoft YaHei"/>
              </a:rPr>
              <a:t>范围 · 新颖度 · 可信度 由 EDA 驱动;影响画像进入 Phase 3 成为事件特征,并在 Phase 2 的因果聚合中给事件加权。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Microsoft YaHei"/>
              </a:rPr>
              <a:t>03  ·  方法 — PHASE 1 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FFFFFF"/>
                </a:solidFill>
                <a:latin typeface="Microsoft YaHei"/>
              </a:rPr>
              <a:t>Phase 1 —— 抽取模型与弱监督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Microsoft YaHei"/>
              </a:rPr>
              <a:t>CausalStock  ·  CS173 数据挖掘  ·  第二组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Microsoft YaHei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07008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43748"/>
                </a:solidFill>
                <a:latin typeface="Microsoft YaHei"/>
              </a:rPr>
              <a:t>FinBERT 编码器接多头解码器,标签由一条四步弱监督流水线生成。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27632"/>
            <a:ext cx="5532120" cy="324612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755648"/>
            <a:ext cx="5074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3861F"/>
                </a:solidFill>
                <a:latin typeface="Microsoft YaHei"/>
              </a:rPr>
              <a:t>模型 —— FinBERT + 多头解码器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57984"/>
            <a:ext cx="5120640" cy="2651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1080" b="0" i="0">
                <a:solidFill>
                  <a:srgbClr val="243748"/>
                </a:solidFill>
                <a:latin typeface="Microsoft YaHei"/>
              </a:rPr>
              <a:t>编码器 —— ProsusAI/finbert,金融文本预训练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1080" b="0" i="0">
                <a:solidFill>
                  <a:srgbClr val="243748"/>
                </a:solidFill>
                <a:latin typeface="Microsoft YaHei"/>
              </a:rPr>
              <a:t>头 1 —— 事件类型分类(20 类 softmax)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1080" b="0" i="0">
                <a:solidFill>
                  <a:srgbClr val="243748"/>
                </a:solidFill>
                <a:latin typeface="Microsoft YaHei"/>
              </a:rPr>
              <a:t>头 2 —— 论元跨度(主体 / 对象 的 token 跨度)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1080" b="0" i="0">
                <a:solidFill>
                  <a:srgbClr val="243748"/>
                </a:solidFill>
                <a:latin typeface="Microsoft YaHei"/>
              </a:rPr>
              <a:t>头 3 —— 幅度回归(带符号标量)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1080" b="0" i="0">
                <a:solidFill>
                  <a:srgbClr val="243748"/>
                </a:solidFill>
                <a:latin typeface="Microsoft YaHei"/>
              </a:rPr>
              <a:t>三个头共享编码器,联合训练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627632"/>
            <a:ext cx="5440680" cy="324612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755648"/>
            <a:ext cx="4983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3861F"/>
                </a:solidFill>
                <a:latin typeface="Microsoft YaHei"/>
              </a:rPr>
              <a:t>弱监督流水线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46520" y="2157984"/>
            <a:ext cx="498348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9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9400" y="2249424"/>
            <a:ext cx="4663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80" b="0" i="0">
                <a:solidFill>
                  <a:srgbClr val="243748"/>
                </a:solidFill>
                <a:latin typeface="Microsoft YaHei"/>
              </a:rPr>
              <a:t>1 — LLM 银标(大规模无金标)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46520" y="2761488"/>
            <a:ext cx="498348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9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9400" y="2852928"/>
            <a:ext cx="4663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80" b="0" i="0">
                <a:solidFill>
                  <a:srgbClr val="243748"/>
                </a:solidFill>
                <a:latin typeface="Microsoft YaHei"/>
              </a:rPr>
              <a:t>2 — 规则校正(金融关键词 / 正则)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46520" y="3364991"/>
            <a:ext cx="498348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9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9400" y="3456432"/>
            <a:ext cx="4663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80" b="0" i="0">
                <a:solidFill>
                  <a:srgbClr val="243748"/>
                </a:solidFill>
                <a:latin typeface="Microsoft YaHei"/>
              </a:rPr>
              <a:t>3 — 市场校正(用真实收益核对幅度 M)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46520" y="3968496"/>
            <a:ext cx="498348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9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9400" y="4059935"/>
            <a:ext cx="4663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80" b="0" i="0">
                <a:solidFill>
                  <a:srgbClr val="243748"/>
                </a:solidFill>
                <a:latin typeface="Microsoft YaHei"/>
              </a:rPr>
              <a:t>4 — 幻觉过滤  →  接受事件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074920"/>
            <a:ext cx="2651760" cy="105156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5193792"/>
            <a:ext cx="2651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E3861F"/>
                </a:solidFill>
                <a:latin typeface="Microsoft YaHei"/>
              </a:rPr>
              <a:t>10,901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641848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FFFFFF"/>
                </a:solidFill>
                <a:latin typeface="Microsoft YaHei"/>
              </a:rPr>
              <a:t>结构化事件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355848" y="5074920"/>
            <a:ext cx="2651760" cy="105156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55848" y="5193792"/>
            <a:ext cx="2651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E3861F"/>
                </a:solidFill>
                <a:latin typeface="Microsoft YaHei"/>
              </a:rPr>
              <a:t>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55848" y="5641848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FFFFFF"/>
                </a:solidFill>
                <a:latin typeface="Microsoft YaHei"/>
              </a:rPr>
              <a:t>事件类型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63055" y="5074920"/>
            <a:ext cx="2651760" cy="105156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63055" y="5193792"/>
            <a:ext cx="2651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E3861F"/>
                </a:solidFill>
                <a:latin typeface="Microsoft YaHei"/>
              </a:rPr>
              <a:t>84.8%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63055" y="5641848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FFFFFF"/>
                </a:solidFill>
                <a:latin typeface="Microsoft YaHei"/>
              </a:rPr>
              <a:t>平均属性覆盖率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70263" y="5074920"/>
            <a:ext cx="2651760" cy="105156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70263" y="5193792"/>
            <a:ext cx="2651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E3861F"/>
                </a:solidFill>
                <a:latin typeface="Microsoft YaHei"/>
              </a:rPr>
              <a:t>84 / 78 / 91%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70263" y="5641848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FFFFFF"/>
                </a:solidFill>
                <a:latin typeface="Microsoft YaHei"/>
              </a:rPr>
              <a:t>抽审:类型 / 动作 / 极性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Microsoft YaHei"/>
              </a:rPr>
              <a:t>03  ·  方法 — PHASE 2 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FFFFFF"/>
                </a:solidFill>
                <a:latin typeface="Microsoft YaHei"/>
              </a:rPr>
              <a:t>Phase 2 —— 滞后感知因果发现 (STACD)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Microsoft YaHei"/>
              </a:rPr>
              <a:t>CausalStock  ·  CS173 数据挖掘  ·  第二组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Microsoft YaHe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07008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43748"/>
                </a:solidFill>
                <a:latin typeface="Microsoft YaHei"/>
              </a:rPr>
              <a:t>Phase 2 学习 20 个事件类型之间的时序因果结构 —— 谁驱动谁、滞后多久。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27632"/>
            <a:ext cx="4937760" cy="420624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755648"/>
            <a:ext cx="4480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3861F"/>
                </a:solidFill>
                <a:latin typeface="Microsoft YaHei"/>
              </a:rPr>
              <a:t>目标 —— 两个学习的矩阵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157984"/>
            <a:ext cx="4480560" cy="1143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9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267712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D3A5F"/>
                </a:solidFill>
                <a:latin typeface="Consolas"/>
              </a:rPr>
              <a:t>A  ∈  (0,1)²⁰ˣ²⁰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615184"/>
            <a:ext cx="4114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 i="0">
                <a:solidFill>
                  <a:srgbClr val="6B7785"/>
                </a:solidFill>
                <a:latin typeface="Microsoft YaHei"/>
              </a:rPr>
              <a:t>有向因果强度 —— A[i,j] = 类型 i 驱动类型 j 的强度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483863"/>
            <a:ext cx="4480560" cy="1143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9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593591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D3A5F"/>
                </a:solidFill>
                <a:latin typeface="Consolas"/>
              </a:rPr>
              <a:t>T_lag  ∈  ℝ²⁰ˣ²⁰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941063"/>
            <a:ext cx="4114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 i="0">
                <a:solidFill>
                  <a:srgbClr val="6B7785"/>
                </a:solidFill>
                <a:latin typeface="Microsoft YaHei"/>
              </a:rPr>
              <a:t>因与果之间的预期滞后(天)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901183"/>
            <a:ext cx="4480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60" b="0" i="1">
                <a:solidFill>
                  <a:srgbClr val="6B7785"/>
                </a:solidFill>
                <a:latin typeface="Microsoft YaHei"/>
              </a:rPr>
              <a:t>两个矩阵都从事件流端到端学习得到。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5000" y="1627632"/>
            <a:ext cx="5943600" cy="420624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20" y="1755648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3861F"/>
                </a:solidFill>
                <a:latin typeface="Microsoft YaHei"/>
              </a:rPr>
              <a:t>机制 —— STACD 的组件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20" y="2157984"/>
            <a:ext cx="53949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icrosoft YaHei"/>
              </a:rPr>
              <a:t>▪  稀疏时序注意力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2432303"/>
            <a:ext cx="51206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19" b="0" i="0">
                <a:solidFill>
                  <a:srgbClr val="C9D6E3"/>
                </a:solidFill>
                <a:latin typeface="Microsoft YaHei"/>
              </a:rPr>
              <a:t>在事件序列上做注意力,稀疏化以保留真实连边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2880360"/>
            <a:ext cx="53949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icrosoft YaHei"/>
              </a:rPr>
              <a:t>▪  时间方向掩码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3154679"/>
            <a:ext cx="51206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19" b="0" i="0">
                <a:solidFill>
                  <a:srgbClr val="C9D6E3"/>
                </a:solidFill>
                <a:latin typeface="Microsoft YaHei"/>
              </a:rPr>
              <a:t>只允许过去影响未来 —— 不向后泄漏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89320" y="3602736"/>
            <a:ext cx="53949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icrosoft YaHei"/>
              </a:rPr>
              <a:t>▪  滞后感知高斯门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3877056"/>
            <a:ext cx="51206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19" b="0" i="0">
                <a:solidFill>
                  <a:srgbClr val="C9D6E3"/>
                </a:solidFill>
                <a:latin typeface="Microsoft YaHei"/>
              </a:rPr>
              <a:t>当观测到的时间间隔接近学到的 T_lag 时取峰值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89320" y="4325112"/>
            <a:ext cx="53949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icrosoft YaHei"/>
              </a:rPr>
              <a:t>▪  因果强度门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4599432"/>
            <a:ext cx="51206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19" b="0" i="0">
                <a:solidFill>
                  <a:srgbClr val="C9D6E3"/>
                </a:solidFill>
                <a:latin typeface="Microsoft YaHei"/>
              </a:rPr>
              <a:t>用学到的强度 A 调制每个注意力权重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89320" y="5047488"/>
            <a:ext cx="53949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icrosoft YaHei"/>
              </a:rPr>
              <a:t>▪  NOTEARS 式正则项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5321807"/>
            <a:ext cx="51206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19" b="0" i="0">
                <a:solidFill>
                  <a:srgbClr val="C9D6E3"/>
                </a:solidFill>
                <a:latin typeface="Microsoft YaHei"/>
              </a:rPr>
              <a:t>无环惩罚项,使图保持为合法的 DAG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Microsoft YaHei"/>
              </a:rPr>
              <a:t>03  ·  方法 — PHASE 2 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FFFFFF"/>
                </a:solidFill>
                <a:latin typeface="Microsoft YaHei"/>
              </a:rPr>
              <a:t>Phase 2 —— 注意力调制与可解释性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Microsoft YaHei"/>
              </a:rPr>
              <a:t>CausalStock  ·  CS173 数据挖掘  ·  第二组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Microsoft YaHei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07008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43748"/>
                </a:solidFill>
                <a:latin typeface="Microsoft YaHei"/>
              </a:rPr>
              <a:t>三个门以对数空间相加的方式进入注意力打分;损失再加稀疏项与无环惩罚。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27632"/>
            <a:ext cx="6492240" cy="315468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755648"/>
            <a:ext cx="5943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3861F"/>
                </a:solidFill>
                <a:latin typeface="Microsoft YaHei"/>
              </a:rPr>
              <a:t>注意力调制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6035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Consolas"/>
              </a:rPr>
              <a:t>g_ij = exp( -(|t_i-t_j| - T_lag[k_j,k_i])^2 / 2σ^2 )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779776"/>
            <a:ext cx="6035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Consolas"/>
              </a:rPr>
              <a:t>s_ij' = s_ij + log m_ij + log g_ij + log A[k_j,k_i]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346704"/>
            <a:ext cx="6035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Consolas"/>
              </a:rPr>
              <a:t>α_ij = softmax_j ( s_ij' 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913631"/>
            <a:ext cx="6035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Consolas"/>
              </a:rPr>
              <a:t>L = L_pred + λ1·||A||1 + λ_DAG·h(A)^2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526280"/>
            <a:ext cx="6035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60" b="0" i="1">
                <a:solidFill>
                  <a:srgbClr val="C9D6E3"/>
                </a:solidFill>
                <a:latin typeface="Microsoft YaHei"/>
              </a:rPr>
              <a:t>k_j = token j 的事件类型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78040" y="1627632"/>
            <a:ext cx="4480560" cy="315468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6640" y="1755648"/>
            <a:ext cx="4023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3861F"/>
                </a:solidFill>
                <a:latin typeface="Microsoft YaHei"/>
              </a:rPr>
              <a:t>符号说明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2157984"/>
            <a:ext cx="416052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019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1019" b="0" i="0">
                <a:solidFill>
                  <a:srgbClr val="243748"/>
                </a:solidFill>
                <a:latin typeface="Microsoft YaHei"/>
              </a:rPr>
              <a:t>s_ij —— 原始注意力打分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019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1019" b="0" i="0">
                <a:solidFill>
                  <a:srgbClr val="243748"/>
                </a:solidFill>
                <a:latin typeface="Microsoft YaHei"/>
              </a:rPr>
              <a:t>m_ij —— 时间方向掩码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019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1019" b="0" i="0">
                <a:solidFill>
                  <a:srgbClr val="243748"/>
                </a:solidFill>
                <a:latin typeface="Microsoft YaHei"/>
              </a:rPr>
              <a:t>g_ij —— 滞后感知高斯门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019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1019" b="0" i="0">
                <a:solidFill>
                  <a:srgbClr val="243748"/>
                </a:solidFill>
                <a:latin typeface="Microsoft YaHei"/>
              </a:rPr>
              <a:t>A —— 因果强度矩阵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019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1019" b="0" i="0">
                <a:solidFill>
                  <a:srgbClr val="243748"/>
                </a:solidFill>
                <a:latin typeface="Microsoft YaHei"/>
              </a:rPr>
              <a:t>h(A) —— DAG 无环惩罚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937760"/>
            <a:ext cx="11109960" cy="128016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065776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Microsoft YaHei"/>
              </a:rPr>
              <a:t>为什么节点是事件类型而非个股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413248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Microsoft YaHei"/>
              </a:rPr>
              <a:t>一张 20 节点的事件类型图在不同公司、不同市场之间保持不变,因此该图为可解释、可迁移的事件链分析而设计 —— 个股级的图则绑定在固定的股票池上。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Microsoft YaHei"/>
              </a:rPr>
              <a:t>03  ·  方法 — PHASE 3 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FFFFFF"/>
                </a:solidFill>
                <a:latin typeface="Microsoft YaHei"/>
              </a:rPr>
              <a:t>Phase 3 —— 问题设定与数据集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Microsoft YaHei"/>
              </a:rPr>
              <a:t>CausalStock  ·  CS173 数据挖掘  ·  第二组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Microsoft YaHe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25880"/>
            <a:ext cx="5486400" cy="278892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630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3861F"/>
                </a:solidFill>
                <a:latin typeface="Microsoft YaHei"/>
              </a:rPr>
              <a:t>输入 → 输出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874519"/>
            <a:ext cx="51206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1300" b="0" i="0">
                <a:solidFill>
                  <a:srgbClr val="243748"/>
                </a:solidFill>
                <a:latin typeface="Microsoft YaHei"/>
              </a:rPr>
              <a:t>最近 32 个新闻事件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1300" b="0" i="0">
                <a:solidFill>
                  <a:srgbClr val="243748"/>
                </a:solidFill>
                <a:latin typeface="Microsoft YaHei"/>
              </a:rPr>
              <a:t>30 天 OHLCV 价格窗口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1300" b="0" i="0">
                <a:solidFill>
                  <a:srgbClr val="243748"/>
                </a:solidFill>
                <a:latin typeface="Microsoft YaHei"/>
              </a:rPr>
              <a:t>目标股票身份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1300" b="0" i="0">
                <a:solidFill>
                  <a:srgbClr val="243748"/>
                </a:solidFill>
                <a:latin typeface="Microsoft YaHei"/>
              </a:rPr>
              <a:t>输出:次日方向,阈值 ±0.5%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325880"/>
            <a:ext cx="5394960" cy="278892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46304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3861F"/>
                </a:solidFill>
                <a:latin typeface="Microsoft YaHei"/>
              </a:rPr>
              <a:t>三分类分布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37960" y="2011680"/>
            <a:ext cx="155448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2194560"/>
            <a:ext cx="1554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2F9E74"/>
                </a:solidFill>
                <a:latin typeface="Microsoft YaHei"/>
              </a:rPr>
              <a:t>39.4%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274320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43748"/>
                </a:solidFill>
                <a:latin typeface="Microsoft YaHei"/>
              </a:rPr>
              <a:t>UP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93608" y="2011680"/>
            <a:ext cx="155448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3608" y="2194560"/>
            <a:ext cx="1554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C2492F"/>
                </a:solidFill>
                <a:latin typeface="Microsoft YaHei"/>
              </a:rPr>
              <a:t>43.3%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3608" y="274320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43748"/>
                </a:solidFill>
                <a:latin typeface="Microsoft YaHei"/>
              </a:rPr>
              <a:t>DOWN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49256" y="2011680"/>
            <a:ext cx="155448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49256" y="2194560"/>
            <a:ext cx="1554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6B7785"/>
                </a:solidFill>
                <a:latin typeface="Microsoft YaHei"/>
              </a:rPr>
              <a:t>17.3%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9256" y="274320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43748"/>
                </a:solidFill>
                <a:latin typeface="Microsoft YaHei"/>
              </a:rPr>
              <a:t>FLAT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61188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1">
                <a:solidFill>
                  <a:srgbClr val="6B7785"/>
                </a:solidFill>
                <a:latin typeface="Microsoft YaHei"/>
              </a:rPr>
              <a:t>FLAT 是少数类 —— 因此主看 macro-F1。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389120"/>
            <a:ext cx="3520440" cy="105156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507992"/>
            <a:ext cx="3520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E3861F"/>
                </a:solidFill>
                <a:latin typeface="Microsoft YaHei"/>
              </a:rPr>
              <a:t>9,566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956048"/>
            <a:ext cx="3520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FFFFFF"/>
                </a:solidFill>
                <a:latin typeface="Microsoft YaHei"/>
              </a:rPr>
              <a:t>个股对齐样本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70248" y="4389120"/>
            <a:ext cx="3520440" cy="105156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70248" y="4507992"/>
            <a:ext cx="3520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E3861F"/>
                </a:solidFill>
                <a:latin typeface="Microsoft YaHei"/>
              </a:rPr>
              <a:t>22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70248" y="4956048"/>
            <a:ext cx="3520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FFFFFF"/>
                </a:solidFill>
                <a:latin typeface="Microsoft YaHei"/>
              </a:rPr>
              <a:t>只股票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91856" y="4389120"/>
            <a:ext cx="3520440" cy="105156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91856" y="4507992"/>
            <a:ext cx="3520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E3861F"/>
                </a:solidFill>
                <a:latin typeface="Microsoft YaHei"/>
              </a:rPr>
              <a:t>2010–2023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91856" y="4956048"/>
            <a:ext cx="3520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FFFFFF"/>
                </a:solidFill>
                <a:latin typeface="Microsoft YaHei"/>
              </a:rPr>
              <a:t>时间跨度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Microsoft YaHei"/>
              </a:rPr>
              <a:t>03  ·  方法 — PHASE 3 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FFFFFF"/>
                </a:solidFill>
                <a:latin typeface="Microsoft YaHei"/>
              </a:rPr>
              <a:t>Phase 3 —— 特征工程(132 维)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Microsoft YaHei"/>
              </a:rPr>
              <a:t>CausalStock  ·  CS173 数据挖掘  ·  第二组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Microsoft YaHe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280160"/>
            <a:ext cx="11109960" cy="841248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444752"/>
            <a:ext cx="11109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Microsoft YaHei"/>
              </a:rPr>
              <a:t>x = [ 价格 ‖ 事件 ‖ 股票身份 ]   =   132 维特征向量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77440"/>
            <a:ext cx="3502152" cy="310896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377440"/>
            <a:ext cx="3502152" cy="457200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450592"/>
            <a:ext cx="350215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icrosoft YaHei"/>
              </a:rPr>
              <a:t>价格  ·  28 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971800"/>
            <a:ext cx="32004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96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960" b="0" i="0">
                <a:solidFill>
                  <a:srgbClr val="243748"/>
                </a:solidFill>
                <a:latin typeface="Microsoft YaHei"/>
              </a:rPr>
              <a:t>多周期收益率 —— 1 / 5 / 10 / 20 日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96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960" b="0" i="0">
                <a:solidFill>
                  <a:srgbClr val="243748"/>
                </a:solidFill>
                <a:latin typeface="Microsoft YaHei"/>
              </a:rPr>
              <a:t>已实现波动率与振幅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96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960" b="0" i="0">
                <a:solidFill>
                  <a:srgbClr val="243748"/>
                </a:solidFill>
                <a:latin typeface="Microsoft YaHei"/>
              </a:rPr>
              <a:t>对数成交量与量能趋势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96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960" b="0" i="0">
                <a:solidFill>
                  <a:srgbClr val="243748"/>
                </a:solidFill>
                <a:latin typeface="Microsoft YaHei"/>
              </a:rPr>
              <a:t>OHLC 比率与跳空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96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960" b="0" i="0">
                <a:solidFill>
                  <a:srgbClr val="243748"/>
                </a:solidFill>
                <a:latin typeface="Microsoft YaHei"/>
              </a:rPr>
              <a:t>短期动量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52544" y="2377440"/>
            <a:ext cx="3502152" cy="310896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52544" y="2377440"/>
            <a:ext cx="3502152" cy="457200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52544" y="2450592"/>
            <a:ext cx="350215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icrosoft YaHei"/>
              </a:rPr>
              <a:t>事件  ·  82 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2971800"/>
            <a:ext cx="32004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96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960" b="0" i="0">
                <a:solidFill>
                  <a:srgbClr val="243748"/>
                </a:solidFill>
                <a:latin typeface="Microsoft YaHei"/>
              </a:rPr>
              <a:t>各类型事件计数(20 维)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96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960" b="0" i="0">
                <a:solidFill>
                  <a:srgbClr val="243748"/>
                </a:solidFill>
                <a:latin typeface="Microsoft YaHei"/>
              </a:rPr>
              <a:t>各族带符号幅度和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96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960" b="0" i="0">
                <a:solidFill>
                  <a:srgbClr val="243748"/>
                </a:solidFill>
                <a:latin typeface="Microsoft YaHei"/>
              </a:rPr>
              <a:t>绝对幅度和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96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960" b="0" i="0">
                <a:solidFill>
                  <a:srgbClr val="243748"/>
                </a:solidFill>
                <a:latin typeface="Microsoft YaHei"/>
              </a:rPr>
              <a:t>影响画像均值 —— 极性、意外度、范围、新颖度、可信度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96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960" b="0" i="0">
                <a:solidFill>
                  <a:srgbClr val="243748"/>
                </a:solidFill>
                <a:latin typeface="Microsoft YaHei"/>
              </a:rPr>
              <a:t>末事件类型 one-hot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56448" y="2377440"/>
            <a:ext cx="3502152" cy="310896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56448" y="2377440"/>
            <a:ext cx="3502152" cy="457200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6448" y="2450592"/>
            <a:ext cx="350215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icrosoft YaHei"/>
              </a:rPr>
              <a:t>股票身份  ·  22 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7616" y="2971800"/>
            <a:ext cx="32004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96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960" b="0" i="0">
                <a:solidFill>
                  <a:srgbClr val="243748"/>
                </a:solidFill>
                <a:latin typeface="Microsoft YaHei"/>
              </a:rPr>
              <a:t>股票 one-hot 身份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96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960" b="0" i="0">
                <a:solidFill>
                  <a:srgbClr val="243748"/>
                </a:solidFill>
                <a:latin typeface="Microsoft YaHei"/>
              </a:rPr>
              <a:t>股票池共 22 只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96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960" b="0" i="0">
                <a:solidFill>
                  <a:srgbClr val="243748"/>
                </a:solidFill>
                <a:latin typeface="Microsoft YaHei"/>
              </a:rPr>
              <a:t>让模型学到个股特有的波动与反应模式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669280"/>
            <a:ext cx="11109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0" i="1">
                <a:solidFill>
                  <a:srgbClr val="6B7785"/>
                </a:solidFill>
                <a:latin typeface="Microsoft YaHei"/>
              </a:rPr>
              <a:t>每个特征都是 32 事件 / 30 天窗口上的聚合量 —— 严格只用过去信息,无未来泄漏。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Microsoft YaHei"/>
              </a:rPr>
              <a:t>03  ·  方法 — PHASE 3 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FFFFFF"/>
                </a:solidFill>
                <a:latin typeface="Microsoft YaHei"/>
              </a:rPr>
              <a:t>Phase 3 —— 模型:HistGradientBoosting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Microsoft YaHei"/>
              </a:rPr>
              <a:t>CausalStock  ·  CS173 数据挖掘  ·  第二组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Microsoft YaHei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07008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43748"/>
                </a:solidFill>
                <a:latin typeface="Microsoft YaHei"/>
              </a:rPr>
              <a:t>132 维向量上的分类器是 HistGradientBoosting(HGB)—— 一个基于直方图的梯度提升树集成。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27632"/>
            <a:ext cx="5532120" cy="370332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755648"/>
            <a:ext cx="5074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3861F"/>
                </a:solidFill>
                <a:latin typeface="Microsoft YaHei"/>
              </a:rPr>
              <a:t>为什么用 HGB 而非神经网络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57984"/>
            <a:ext cx="512064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1100" b="0" i="0">
                <a:solidFill>
                  <a:srgbClr val="243748"/>
                </a:solidFill>
                <a:latin typeface="Microsoft YaHei"/>
              </a:rPr>
              <a:t>异构特征 —— 计数、比率、one-hot 都能原生处理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1100" b="0" i="0">
                <a:solidFill>
                  <a:srgbClr val="243748"/>
                </a:solidFill>
                <a:latin typeface="Microsoft YaHei"/>
              </a:rPr>
              <a:t>树分裂对尺度不敏感 —— 特征工程量极小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1100" b="0" i="0">
                <a:solidFill>
                  <a:srgbClr val="243748"/>
                </a:solidFill>
                <a:latin typeface="Microsoft YaHei"/>
              </a:rPr>
              <a:t>强且可解释的基线 —— 能读出各信息源的贡献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1100" b="0" i="0">
                <a:solidFill>
                  <a:srgbClr val="243748"/>
                </a:solidFill>
                <a:latin typeface="Microsoft YaHei"/>
              </a:rPr>
              <a:t>在 9,566 样本规模上稳健 —— 不依赖大数据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627632"/>
            <a:ext cx="5440680" cy="370332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755648"/>
            <a:ext cx="4983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3861F"/>
                </a:solidFill>
                <a:latin typeface="Microsoft YaHei"/>
              </a:rPr>
              <a:t>配置与训练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157984"/>
            <a:ext cx="502920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1100" b="0" i="0">
                <a:solidFill>
                  <a:srgbClr val="FFFFFF"/>
                </a:solidFill>
                <a:latin typeface="Microsoft YaHei"/>
              </a:rPr>
              <a:t>max_iter 150 · learning_rate 0.04 · L2 0.05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1100" b="0" i="0">
                <a:solidFill>
                  <a:srgbClr val="FFFFFF"/>
                </a:solidFill>
                <a:latin typeface="Microsoft YaHei"/>
              </a:rPr>
              <a:t>在留出验证损失上早停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1100" b="0" i="0">
                <a:solidFill>
                  <a:srgbClr val="FFFFFF"/>
                </a:solidFill>
                <a:latin typeface="Microsoft YaHei"/>
              </a:rPr>
              <a:t>三类 softmax 输出 —— UP / DOWN / FLAT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1100" b="0" i="0">
                <a:solidFill>
                  <a:srgbClr val="FFFFFF"/>
                </a:solidFill>
                <a:latin typeface="Microsoft YaHei"/>
              </a:rPr>
              <a:t>以 macro-F1 为主指标(FLAT 为少数类)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1100" b="0" i="0">
                <a:solidFill>
                  <a:srgbClr val="C9D6E3"/>
                </a:solidFill>
                <a:latin typeface="Microsoft YaHei"/>
              </a:rPr>
              <a:t>在分层划分与时间划分下分别评估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Microsoft YaHei"/>
              </a:rPr>
              <a:t>04  ·  实验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FFFFFF"/>
                </a:solidFill>
                <a:latin typeface="Microsoft YaHei"/>
              </a:rPr>
              <a:t>核心结果 —— 分层划分 vs 时间划分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Microsoft YaHei"/>
              </a:rPr>
              <a:t>CausalStock  ·  CS173 数据挖掘  ·  第二组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Microsoft YaHei"/>
              </a:rPr>
              <a:t>18</a:t>
            </a:r>
          </a:p>
        </p:txBody>
      </p:sp>
      <p:pic>
        <p:nvPicPr>
          <p:cNvPr id="8" name="Picture 7" descr="fig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4160520" cy="278720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00800" y="1371600"/>
            <a:ext cx="5303520" cy="461772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517904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3861F"/>
                </a:solidFill>
                <a:latin typeface="Microsoft YaHei"/>
              </a:rPr>
              <a:t>两个诚实的解读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938528"/>
            <a:ext cx="489204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1200" b="0" i="0">
                <a:solidFill>
                  <a:srgbClr val="243748"/>
                </a:solidFill>
                <a:latin typeface="Microsoft YaHei"/>
              </a:rPr>
              <a:t>分层随机 —— macro-F1 0.693、准确率 0.728。明显高于 0.43 多数类与 0.33 随机基线:特征含有效信号。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1200" b="0" i="0">
                <a:solidFill>
                  <a:srgbClr val="243748"/>
                </a:solidFill>
                <a:latin typeface="Microsoft YaHei"/>
              </a:rPr>
              <a:t>时间顺序 —— macro-F1 0.337。接近随机,与半强式市场有效一致。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6B7785"/>
                </a:solidFill>
                <a:latin typeface="Microsoft YaHei"/>
              </a:rPr>
              <a:t>      </a:t>
            </a:r>
            <a:r>
              <a:rPr sz="1050" b="0" i="0">
                <a:solidFill>
                  <a:srgbClr val="1D3A5F"/>
                </a:solidFill>
                <a:latin typeface="Microsoft YaHei"/>
              </a:rPr>
              <a:t>我们两个都报 —— 只报分层那个数会高估真实预测力。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Microsoft YaHei"/>
              </a:rPr>
              <a:t>04  ·  实验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FFFFFF"/>
                </a:solidFill>
                <a:latin typeface="Microsoft YaHei"/>
              </a:rPr>
              <a:t>消融实验 —— 各信息源的贡献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Microsoft YaHei"/>
              </a:rPr>
              <a:t>CausalStock  ·  CS173 数据挖掘  ·  第二组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Microsoft YaHei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801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43748"/>
                </a:solidFill>
                <a:latin typeface="Microsoft YaHei"/>
              </a:rPr>
              <a:t>组合特征模型在分层随机划分下的 macro-F1: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554480" y="1783080"/>
          <a:ext cx="9052560" cy="170078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852160"/>
                <a:gridCol w="1463040"/>
                <a:gridCol w="1737360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特征集</a:t>
                      </a:r>
                    </a:p>
                  </a:txBody>
                  <a:tcPr anchor="ctr" marL="73152" marR="45720" marT="18288" marB="18288">
                    <a:solidFill>
                      <a:srgbClr val="1D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维度</a:t>
                      </a:r>
                    </a:p>
                  </a:txBody>
                  <a:tcPr anchor="ctr" marL="73152" marR="45720" marT="18288" marB="18288">
                    <a:solidFill>
                      <a:srgbClr val="1D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Macro-F1</a:t>
                      </a:r>
                    </a:p>
                  </a:txBody>
                  <a:tcPr anchor="ctr" marL="73152" marR="45720" marT="18288" marB="18288">
                    <a:solidFill>
                      <a:srgbClr val="1D3A5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43748"/>
                          </a:solidFill>
                          <a:latin typeface="Microsoft YaHei"/>
                        </a:rPr>
                        <a:t>价格 + 事件</a:t>
                      </a:r>
                    </a:p>
                  </a:txBody>
                  <a:tcPr anchor="ctr" marL="73152" marR="45720" marT="18288" marB="18288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43748"/>
                          </a:solidFill>
                          <a:latin typeface="Microsoft YaHei"/>
                        </a:rPr>
                        <a:t>110</a:t>
                      </a:r>
                    </a:p>
                  </a:txBody>
                  <a:tcPr anchor="ctr" marL="73152" marR="45720" marT="18288" marB="18288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43748"/>
                          </a:solidFill>
                          <a:latin typeface="Microsoft YaHei"/>
                        </a:rPr>
                        <a:t>0.684</a:t>
                      </a:r>
                    </a:p>
                  </a:txBody>
                  <a:tcPr anchor="ctr" marL="73152" marR="45720" marT="18288" marB="18288">
                    <a:solidFill>
                      <a:srgbClr val="EEF2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43748"/>
                          </a:solidFill>
                          <a:latin typeface="Microsoft YaHei"/>
                        </a:rPr>
                        <a:t>完整:价格 + 事件 + 股票身份</a:t>
                      </a:r>
                    </a:p>
                  </a:txBody>
                  <a:tcPr anchor="ctr" marL="73152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43748"/>
                          </a:solidFill>
                          <a:latin typeface="Microsoft YaHei"/>
                        </a:rPr>
                        <a:t>132</a:t>
                      </a:r>
                    </a:p>
                  </a:txBody>
                  <a:tcPr anchor="ctr" marL="73152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43748"/>
                          </a:solidFill>
                          <a:latin typeface="Microsoft YaHei"/>
                        </a:rPr>
                        <a:t>0.693</a:t>
                      </a:r>
                    </a:p>
                  </a:txBody>
                  <a:tcPr anchor="ctr" marL="73152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48640" y="3657600"/>
            <a:ext cx="11109960" cy="210312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822191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3861F"/>
                </a:solidFill>
                <a:latin typeface="Microsoft YaHei"/>
              </a:rPr>
              <a:t>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206240"/>
            <a:ext cx="106070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1200" b="0" i="0">
                <a:solidFill>
                  <a:srgbClr val="243748"/>
                </a:solidFill>
                <a:latin typeface="Microsoft YaHei"/>
              </a:rPr>
              <a:t>加入股票身份把 macro-F1 从 0.684 提到 0.693 —— 个股特有的波动与反应模式仍有用。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1200" b="0" i="0">
                <a:solidFill>
                  <a:srgbClr val="243748"/>
                </a:solidFill>
                <a:latin typeface="Microsoft YaHei"/>
              </a:rPr>
              <a:t>组合表示在分层划分下可学习 —— 这是我们汇报的配置。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Microsoft YaHei"/>
              </a:rPr>
              <a:t>05  ·  对比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FFFFFF"/>
                </a:solidFill>
                <a:latin typeface="Microsoft YaHei"/>
              </a:rPr>
              <a:t>与基线的多维对比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Microsoft YaHei"/>
              </a:rPr>
              <a:t>CausalStock  ·  CS173 数据挖掘  ·  第二组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Microsoft YaHei"/>
              </a:rPr>
              <a:t>20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11201400" cy="340156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377440"/>
                <a:gridCol w="4206240"/>
                <a:gridCol w="4617720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维度</a:t>
                      </a:r>
                    </a:p>
                  </a:txBody>
                  <a:tcPr anchor="ctr" marL="73152" marR="45720" marT="18288" marB="18288">
                    <a:solidFill>
                      <a:srgbClr val="1D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CausalStock(NeurIPS 2024)</a:t>
                      </a:r>
                    </a:p>
                  </a:txBody>
                  <a:tcPr anchor="ctr" marL="73152" marR="45720" marT="18288" marB="18288">
                    <a:solidFill>
                      <a:srgbClr val="1D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我们</a:t>
                      </a:r>
                    </a:p>
                  </a:txBody>
                  <a:tcPr anchor="ctr" marL="73152" marR="45720" marT="18288" marB="18288">
                    <a:solidFill>
                      <a:srgbClr val="1D3A5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43748"/>
                          </a:solidFill>
                          <a:latin typeface="Microsoft YaHei"/>
                        </a:rPr>
                        <a:t>因果层级</a:t>
                      </a:r>
                    </a:p>
                  </a:txBody>
                  <a:tcPr anchor="ctr" marL="73152" marR="45720" marT="18288" marB="18288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43748"/>
                          </a:solidFill>
                          <a:latin typeface="Microsoft YaHei"/>
                        </a:rPr>
                        <a:t>个股级图</a:t>
                      </a:r>
                    </a:p>
                  </a:txBody>
                  <a:tcPr anchor="ctr" marL="73152" marR="45720" marT="18288" marB="18288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43748"/>
                          </a:solidFill>
                          <a:latin typeface="Microsoft YaHei"/>
                        </a:rPr>
                        <a:t>事件类型级图(20×20)</a:t>
                      </a:r>
                    </a:p>
                  </a:txBody>
                  <a:tcPr anchor="ctr" marL="73152" marR="45720" marT="18288" marB="18288">
                    <a:solidFill>
                      <a:srgbClr val="EEF2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43748"/>
                          </a:solidFill>
                          <a:latin typeface="Microsoft YaHei"/>
                        </a:rPr>
                        <a:t>新闻表示</a:t>
                      </a:r>
                    </a:p>
                  </a:txBody>
                  <a:tcPr anchor="ctr" marL="73152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43748"/>
                          </a:solidFill>
                          <a:latin typeface="Microsoft YaHei"/>
                        </a:rPr>
                        <a:t>稠密去噪嵌入</a:t>
                      </a:r>
                    </a:p>
                  </a:txBody>
                  <a:tcPr anchor="ctr" marL="73152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43748"/>
                          </a:solidFill>
                          <a:latin typeface="Microsoft YaHei"/>
                        </a:rPr>
                        <a:t>结构化事件 + 影响画像</a:t>
                      </a:r>
                    </a:p>
                  </a:txBody>
                  <a:tcPr anchor="ctr" marL="73152" marR="45720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43748"/>
                          </a:solidFill>
                          <a:latin typeface="Microsoft YaHei"/>
                        </a:rPr>
                        <a:t>预测任务</a:t>
                      </a:r>
                    </a:p>
                  </a:txBody>
                  <a:tcPr anchor="ctr" marL="73152" marR="45720" marT="18288" marB="18288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43748"/>
                          </a:solidFill>
                          <a:latin typeface="Microsoft YaHei"/>
                        </a:rPr>
                        <a:t>二分类 涨/跌</a:t>
                      </a:r>
                    </a:p>
                  </a:txBody>
                  <a:tcPr anchor="ctr" marL="73152" marR="45720" marT="18288" marB="18288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43748"/>
                          </a:solidFill>
                          <a:latin typeface="Microsoft YaHei"/>
                        </a:rPr>
                        <a:t>三分类,带 ±0.5% FLAT 区</a:t>
                      </a:r>
                    </a:p>
                  </a:txBody>
                  <a:tcPr anchor="ctr" marL="73152" marR="45720" marT="18288" marB="18288">
                    <a:solidFill>
                      <a:srgbClr val="EEF2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43748"/>
                          </a:solidFill>
                          <a:latin typeface="Microsoft YaHei"/>
                        </a:rPr>
                        <a:t>评估协议</a:t>
                      </a:r>
                    </a:p>
                  </a:txBody>
                  <a:tcPr anchor="ctr" marL="73152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43748"/>
                          </a:solidFill>
                          <a:latin typeface="Microsoft YaHei"/>
                        </a:rPr>
                        <a:t>多为随机划分</a:t>
                      </a:r>
                    </a:p>
                  </a:txBody>
                  <a:tcPr anchor="ctr" marL="73152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43748"/>
                          </a:solidFill>
                          <a:latin typeface="Microsoft YaHei"/>
                        </a:rPr>
                        <a:t>分层 + 时间 双划分</a:t>
                      </a:r>
                    </a:p>
                  </a:txBody>
                  <a:tcPr anchor="ctr" marL="73152" marR="45720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43748"/>
                          </a:solidFill>
                          <a:latin typeface="Microsoft YaHei"/>
                        </a:rPr>
                        <a:t>数据规模</a:t>
                      </a:r>
                    </a:p>
                  </a:txBody>
                  <a:tcPr anchor="ctr" marL="73152" marR="45720" marT="18288" marB="18288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43748"/>
                          </a:solidFill>
                          <a:latin typeface="Microsoft YaHei"/>
                        </a:rPr>
                        <a:t>更大,多数据集</a:t>
                      </a:r>
                    </a:p>
                  </a:txBody>
                  <a:tcPr anchor="ctr" marL="73152" marR="45720" marT="18288" marB="18288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43748"/>
                          </a:solidFill>
                          <a:latin typeface="Microsoft YaHei"/>
                        </a:rPr>
                        <a:t>5% FNSPID 子集,22 股</a:t>
                      </a:r>
                    </a:p>
                  </a:txBody>
                  <a:tcPr anchor="ctr" marL="73152" marR="45720" marT="18288" marB="18288"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5212080"/>
            <a:ext cx="11201400" cy="91440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340096"/>
            <a:ext cx="106070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Microsoft YaHei"/>
              </a:rPr>
              <a:t>互补而非竞争 —— 事件类型级因果可跨公司、跨市场迁移;个股级因果绑定在固定股票池。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Microsoft YaHei"/>
              </a:rPr>
              <a:t>05  ·  对比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FFFFFF"/>
                </a:solidFill>
                <a:latin typeface="Microsoft YaHei"/>
              </a:rPr>
              <a:t>对比 —— 对差距的可解释分析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Microsoft YaHei"/>
              </a:rPr>
              <a:t>CausalStock  ·  CS173 数据挖掘  ·  第二组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Microsoft YaHei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43748"/>
                </a:solidFill>
                <a:latin typeface="Microsoft YaHei"/>
              </a:rPr>
              <a:t>我们的设定比基线更难、更严格 —— 差距可沿四个维度解释: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91640"/>
            <a:ext cx="11109960" cy="841248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17320" cy="841248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38528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3861F"/>
                </a:solidFill>
                <a:latin typeface="Microsoft YaHei"/>
              </a:rPr>
              <a:t>任务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1783080"/>
            <a:ext cx="932688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 i="0">
                <a:solidFill>
                  <a:srgbClr val="243748"/>
                </a:solidFill>
                <a:latin typeface="Microsoft YaHei"/>
              </a:rPr>
              <a:t>我们做带 ±0.5% FLAT 死区的三分类;基线是二分类涨/跌。FLAT 是最难的少数类。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651760"/>
            <a:ext cx="11109960" cy="841248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651760"/>
            <a:ext cx="1417320" cy="841248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898648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3861F"/>
                </a:solidFill>
                <a:latin typeface="Microsoft YaHei"/>
              </a:rPr>
              <a:t>数据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8840" y="2743200"/>
            <a:ext cx="932688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 i="0">
                <a:solidFill>
                  <a:srgbClr val="243748"/>
                </a:solidFill>
                <a:latin typeface="Microsoft YaHei"/>
              </a:rPr>
              <a:t>5% FNSPID 子集、22 只股票 —— 规模小得多;此规模下跨股票的关系信号有限。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611880"/>
            <a:ext cx="11109960" cy="841248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611880"/>
            <a:ext cx="1417320" cy="841248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858768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3861F"/>
                </a:solidFill>
                <a:latin typeface="Microsoft YaHei"/>
              </a:rPr>
              <a:t>协议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48840" y="3703320"/>
            <a:ext cx="932688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 i="0">
                <a:solidFill>
                  <a:srgbClr val="243748"/>
                </a:solidFill>
                <a:latin typeface="Microsoft YaHei"/>
              </a:rPr>
              <a:t>真正可比的是我们的时间划分数;随机划分混合市场体制,会高估表现。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572000"/>
            <a:ext cx="11109960" cy="841248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572000"/>
            <a:ext cx="1417320" cy="841248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4818888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3861F"/>
                </a:solidFill>
                <a:latin typeface="Microsoft YaHei"/>
              </a:rPr>
              <a:t>方法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48840" y="4663440"/>
            <a:ext cx="932688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 i="0">
                <a:solidFill>
                  <a:srgbClr val="243748"/>
                </a:solidFill>
                <a:latin typeface="Microsoft YaHei"/>
              </a:rPr>
              <a:t>基线把新闻与价格导出的因果骨架端到端耦合;我们评测的是聚合事件统计上的透明表格模型 —— 可解释但有损。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669280"/>
            <a:ext cx="11109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 i="1">
                <a:solidFill>
                  <a:srgbClr val="6B7785"/>
                </a:solidFill>
                <a:latin typeface="Microsoft YaHei"/>
              </a:rPr>
              <a:t>我们不声称击败基线 —— 我们的贡献是可迁移的事件类型形式化,以及更严格、更诚实的评估。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Microsoft YaHei"/>
              </a:rPr>
              <a:t>05  ·  结论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FFFFFF"/>
                </a:solidFill>
                <a:latin typeface="Microsoft YaHei"/>
              </a:rPr>
              <a:t>总结与未来工作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Microsoft YaHei"/>
              </a:rPr>
              <a:t>CausalStock  ·  CS173 数据挖掘  ·  第二组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Microsoft YaHei"/>
              </a:rPr>
              <a:t>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5486400" cy="429768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371600"/>
            <a:ext cx="5486400" cy="457200"/>
          </a:xfrm>
          <a:prstGeom prst="rect">
            <a:avLst/>
          </a:prstGeom>
          <a:solidFill>
            <a:srgbClr val="2F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444752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icrosoft YaHei"/>
              </a:rPr>
              <a:t>我们的贡献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965960"/>
            <a:ext cx="512064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1150" b="0" i="0">
                <a:solidFill>
                  <a:srgbClr val="243748"/>
                </a:solidFill>
                <a:latin typeface="Microsoft YaHei"/>
              </a:rPr>
              <a:t>更清晰的事件结构化问题形式化。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1150" b="0" i="0">
                <a:solidFill>
                  <a:srgbClr val="243748"/>
                </a:solidFill>
                <a:latin typeface="Microsoft YaHei"/>
              </a:rPr>
              <a:t>EDA 驱动的事件 schema —— 属性由实测数据得来。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1150" b="0" i="0">
                <a:solidFill>
                  <a:srgbClr val="243748"/>
                </a:solidFill>
                <a:latin typeface="Microsoft YaHei"/>
              </a:rPr>
              <a:t>数学上明确定义的滞后感知事件因果模型。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1150" b="0" i="0">
                <a:solidFill>
                  <a:srgbClr val="243748"/>
                </a:solidFill>
                <a:latin typeface="Microsoft YaHei"/>
              </a:rPr>
              <a:t>把信息含量与前向可预测性分开的诚实分析。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371600"/>
            <a:ext cx="5486400" cy="429768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371600"/>
            <a:ext cx="5486400" cy="457200"/>
          </a:xfrm>
          <a:prstGeom prst="rect">
            <a:avLst/>
          </a:prstGeom>
          <a:solidFill>
            <a:srgbClr val="2E6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1444752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icrosoft YaHei"/>
              </a:rPr>
              <a:t>未来工作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965960"/>
            <a:ext cx="512064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1150" b="0" i="0">
                <a:solidFill>
                  <a:srgbClr val="243748"/>
                </a:solidFill>
                <a:latin typeface="Microsoft YaHei"/>
              </a:rPr>
              <a:t>把 A 与 T_lag 直接作为 Phase-3 特征整合进去。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1150" b="0" i="0">
                <a:solidFill>
                  <a:srgbClr val="243748"/>
                </a:solidFill>
                <a:latin typeface="Microsoft YaHei"/>
              </a:rPr>
              <a:t>建模跨股票的事件传播。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1150" b="0" i="0">
                <a:solidFill>
                  <a:srgbClr val="243748"/>
                </a:solidFill>
                <a:latin typeface="Microsoft YaHei"/>
              </a:rPr>
              <a:t>引入体制感知的时间编码以缓解分布漂移。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1150" b="0" i="0">
                <a:solidFill>
                  <a:srgbClr val="243748"/>
                </a:solidFill>
                <a:latin typeface="Microsoft YaHei"/>
              </a:rPr>
              <a:t>以滚动前向验证作为默认协议。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806440"/>
            <a:ext cx="11109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 i="1">
                <a:solidFill>
                  <a:srgbClr val="6B7785"/>
                </a:solidFill>
                <a:latin typeface="Microsoft YaHei"/>
              </a:rPr>
              <a:t>我们不声称解决了股价预测 —— 我们给出的是清晰的形式化,以及结构化新闻在哪里有用的诚实研究。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Microsoft YaHei"/>
              </a:rPr>
              <a:t>致谢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FFFFFF"/>
                </a:solidFill>
                <a:latin typeface="Microsoft YaHei"/>
              </a:rPr>
              <a:t>Q &amp;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Microsoft YaHei"/>
              </a:rPr>
              <a:t>CausalStock  ·  CS173 数据挖掘  ·  第二组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Microsoft YaHei"/>
              </a:rPr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94560"/>
            <a:ext cx="11109960" cy="237744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743200"/>
            <a:ext cx="11109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Microsoft YaHei"/>
              </a:rPr>
              <a:t>Q &amp; A   —   感谢聆听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20440"/>
            <a:ext cx="11109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DB0C4"/>
                </a:solidFill>
                <a:latin typeface="Microsoft YaHei"/>
              </a:rPr>
              <a:t>CausalStock  ·  CS173 Data Mining Final  ·  Team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