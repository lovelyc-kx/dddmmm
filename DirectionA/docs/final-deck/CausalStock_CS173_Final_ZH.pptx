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79776"/>
            <a:ext cx="12191695" cy="54864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CS173  ·  数据挖掘  ·  期末项目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2344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400" b="1" i="0">
                <a:solidFill>
                  <a:srgbClr val="FFFFFF"/>
                </a:solidFill>
                <a:latin typeface="Microsoft YaHei"/>
              </a:rPr>
              <a:t>CausalStock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12848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0" i="0">
                <a:solidFill>
                  <a:srgbClr val="C9D6E3"/>
                </a:solidFill>
                <a:latin typeface="Microsoft YaHei"/>
              </a:rPr>
              <a:t>面向新闻驱动股价预测的事件结构化时序因果建模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Microsoft YaHei"/>
              </a:rPr>
              <a:t>数据驱动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icrosoft YaHei"/>
              </a:rPr>
              <a:t>3 个 EDA 发现 → 3 个新事件属性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Microsoft YaHei"/>
              </a:rPr>
              <a:t>结构化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icrosoft YaHei"/>
              </a:rPr>
              <a:t>20 类结构化事件,而非单一情感分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Microsoft YaHei"/>
              </a:rPr>
              <a:t>诚实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icrosoft YaHei"/>
              </a:rPr>
              <a:t>分层 + 时间 双划分报告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DB0C4"/>
                </a:solidFill>
                <a:latin typeface="Microsoft YaHei"/>
              </a:rPr>
              <a:t>第二组     ·     CS173 期末项目     ·     2026 年 5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汇报目录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80160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D9E2EC"/>
                </a:solidFill>
                <a:latin typeface="Microsoft YaHe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645920" y="1325880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1280160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Microsoft YaHei"/>
              </a:rPr>
              <a:t>问题与基线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682495"/>
            <a:ext cx="9784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785"/>
                </a:solidFill>
                <a:latin typeface="Microsoft YaHei"/>
              </a:rPr>
              <a:t>现有方法的局限、CausalStock 基线、我们的创新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49424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D9E2EC"/>
                </a:solidFill>
                <a:latin typeface="Microsoft YaHei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5920" y="2295144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2249424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Microsoft YaHei"/>
              </a:rPr>
              <a:t>数据分析 (EDA)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2651760"/>
            <a:ext cx="9784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785"/>
                </a:solidFill>
                <a:latin typeface="Microsoft YaHei"/>
              </a:rPr>
              <a:t>四部分的探索性数据分析,驱动事件 schema 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18688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D9E2EC"/>
                </a:solidFill>
                <a:latin typeface="Microsoft YaHei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0" y="3264408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0240" y="3218688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Microsoft YaHei"/>
              </a:rPr>
              <a:t>方法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3621024"/>
            <a:ext cx="9784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785"/>
                </a:solidFill>
                <a:latin typeface="Microsoft YaHei"/>
              </a:rPr>
              <a:t>Phase 1 抽取 · Phase 2 因果发现 · Phase 3 预测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187952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D9E2EC"/>
                </a:solidFill>
                <a:latin typeface="Microsoft YaHei"/>
              </a:rPr>
              <a:t>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5920" y="4233672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20240" y="4187952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Microsoft YaHei"/>
              </a:rPr>
              <a:t>实验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4590288"/>
            <a:ext cx="9784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785"/>
                </a:solidFill>
                <a:latin typeface="Microsoft YaHei"/>
              </a:rPr>
              <a:t>分层 vs 时间 划分结果,以及消融实验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157216"/>
            <a:ext cx="914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D9E2EC"/>
                </a:solidFill>
                <a:latin typeface="Microsoft YaHei"/>
              </a:rPr>
              <a:t>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45920" y="5202936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20240" y="5157216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Microsoft YaHei"/>
              </a:rPr>
              <a:t>对比与结论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5559552"/>
            <a:ext cx="9784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785"/>
                </a:solidFill>
                <a:latin typeface="Microsoft YaHei"/>
              </a:rPr>
              <a:t>与基线的多维对比,以及未来工作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01  ·  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现有方法的三大问题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3748"/>
                </a:solidFill>
                <a:latin typeface="Microsoft YaHei"/>
              </a:rPr>
              <a:t>多数新闻驱动模型把每篇文章压成一个情感分数,由此带来三个问题: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783080"/>
            <a:ext cx="11109960" cy="12984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783080"/>
            <a:ext cx="128016" cy="1298448"/>
          </a:xfrm>
          <a:prstGeom prst="rect">
            <a:avLst/>
          </a:prstGeom>
          <a:solidFill>
            <a:srgbClr val="C2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92807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3A5F"/>
                </a:solidFill>
                <a:latin typeface="Microsoft YaHei"/>
              </a:rPr>
              <a:t>1.  信息损失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276856"/>
            <a:ext cx="7132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Microsoft YaHei"/>
              </a:rPr>
              <a:t>单一情感分丢掉了事件的类型、幅度与影响对象。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965960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785"/>
                </a:solidFill>
                <a:latin typeface="Microsoft YaHei"/>
              </a:rPr>
              <a:t>「苹果发布 iPhone,预期上调 20%」→ 情感分 +0.8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264408"/>
            <a:ext cx="11109960" cy="12984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264408"/>
            <a:ext cx="128016" cy="1298448"/>
          </a:xfrm>
          <a:prstGeom prst="rect">
            <a:avLst/>
          </a:prstGeom>
          <a:solidFill>
            <a:srgbClr val="C2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374136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3A5F"/>
                </a:solidFill>
                <a:latin typeface="Microsoft YaHei"/>
              </a:rPr>
              <a:t>2.  缺乏因果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758184"/>
            <a:ext cx="7132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Microsoft YaHei"/>
              </a:rPr>
              <a:t>模型只抓表面相关,不理解事件间逻辑,也无法解释预测。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447288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785"/>
                </a:solidFill>
                <a:latin typeface="Microsoft YaHei"/>
              </a:rPr>
              <a:t>无法区分加息是直接作用还是经由盈利预期间接作用。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45736"/>
            <a:ext cx="11109960" cy="12984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745736"/>
            <a:ext cx="128016" cy="1298448"/>
          </a:xfrm>
          <a:prstGeom prst="rect">
            <a:avLst/>
          </a:prstGeom>
          <a:solidFill>
            <a:srgbClr val="C2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855464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D3A5F"/>
                </a:solidFill>
                <a:latin typeface="Microsoft YaHei"/>
              </a:rPr>
              <a:t>3.  忽视时间动态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239512"/>
            <a:ext cx="71323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Microsoft YaHei"/>
              </a:rPr>
              <a:t>把新闻影响当作瞬时的,忽略滞后、扩散与持续发酵。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928616"/>
            <a:ext cx="329184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1">
                <a:solidFill>
                  <a:srgbClr val="6B7785"/>
                </a:solidFill>
                <a:latin typeface="Microsoft YaHei"/>
              </a:rPr>
              <a:t>政策变动可能数天后才在价格上显现。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01  ·  基线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基线 —— CausalStock (NeurIPS 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3861F"/>
                </a:solidFill>
                <a:latin typeface="Microsoft YaHei"/>
              </a:rPr>
              <a:t>基线做了什么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64208"/>
            <a:ext cx="5349240" cy="10515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64208"/>
            <a:ext cx="109728" cy="105156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73936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Microsoft YaHei"/>
              </a:rPr>
              <a:t>去噪新闻编码器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21408"/>
            <a:ext cx="4983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43748"/>
                </a:solidFill>
                <a:latin typeface="Microsoft YaHei"/>
              </a:rPr>
              <a:t>用 LLM 把每篇文章压成一个稠密嵌入向量。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664208"/>
            <a:ext cx="5349240" cy="10515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664208"/>
            <a:ext cx="109728" cy="105156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773936"/>
            <a:ext cx="4983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Microsoft YaHei"/>
              </a:rPr>
              <a:t>个股级因果图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121408"/>
            <a:ext cx="4983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243748"/>
                </a:solidFill>
                <a:latin typeface="Microsoft YaHei"/>
              </a:rPr>
              <a:t>在个股之间学习带滞后的因果关系。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3861F"/>
                </a:solidFill>
                <a:latin typeface="Microsoft YaHei"/>
              </a:rPr>
              <a:t>两个盲点 —— 以及我们的对策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548640" y="3310128"/>
          <a:ext cx="11109960" cy="17007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532120"/>
                <a:gridCol w="557784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基线的盲点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Microsoft YaHei"/>
                        </a:rPr>
                        <a:t>我们的对策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  <a:latin typeface="Microsoft YaHei"/>
                        </a:rPr>
                        <a:t>一篇一个向量,藏掉了事件类型、幅度、影响对象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  <a:latin typeface="Microsoft YaHei"/>
                        </a:rPr>
                        <a:t>结构化事件:(主体,行为,对象,幅度) + 影响画像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  <a:latin typeface="Microsoft YaHei"/>
                        </a:rPr>
                        <a:t>个股级的图说不出是什么事件驱动了这条边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  <a:latin typeface="Microsoft YaHei"/>
                        </a:rPr>
                        <a:t>20 个事件类型上的因果图,可跨公司迁移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548640" y="5257800"/>
            <a:ext cx="11109960" cy="8686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422392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结论:  </a:t>
            </a:r>
            <a:r>
              <a:rPr sz="1250" b="0" i="0">
                <a:solidFill>
                  <a:srgbClr val="FFFFFF"/>
                </a:solidFill>
                <a:latin typeface="Microsoft YaHei"/>
              </a:rPr>
              <a:t>基线很强但对结构盲视 —— 我们恢复事件结构,并把因果移到事件类型级。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01  ·  创新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我们改变了什么 —— 三个创新点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3748"/>
                </a:solidFill>
                <a:latin typeface="Microsoft YaHei"/>
              </a:rPr>
              <a:t>现有方法的每个问题,精确对应一项设计改变: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109960" cy="263347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029200"/>
                <a:gridCol w="608076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现有方法的问题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Microsoft YaHei"/>
                        </a:rPr>
                        <a:t>CausalStock 的创新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43748"/>
                          </a:solidFill>
                          <a:latin typeface="Microsoft YaHei"/>
                        </a:rPr>
                        <a:t>信息损失(情感标量)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748"/>
                          </a:solidFill>
                          <a:latin typeface="Microsoft YaHei"/>
                        </a:rPr>
                        <a:t>结构化事件:(主体,行为,对象,幅度) + 影响画像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43748"/>
                          </a:solidFill>
                          <a:latin typeface="Microsoft YaHei"/>
                        </a:rPr>
                        <a:t>缺乏因果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748"/>
                          </a:solidFill>
                          <a:latin typeface="Microsoft YaHei"/>
                        </a:rPr>
                        <a:t>在 20 个事件类型上做滞后感知因果发现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43748"/>
                          </a:solidFill>
                          <a:latin typeface="Microsoft YaHei"/>
                        </a:rPr>
                        <a:t>忽视时间动态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748"/>
                          </a:solidFill>
                          <a:latin typeface="Microsoft YaHei"/>
                        </a:rPr>
                        <a:t>学习滞后矩阵 T_lag 与滞后门控注意力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4617720"/>
            <a:ext cx="11109960" cy="146304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773168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两条原则贯穿这三点: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138928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Microsoft YaHei"/>
              </a:rPr>
              <a:t>数据驱动 —— 事件 schema 由实测 EDA 得来,而非预设。  诚实 —— 每个结果都同时在分层划分与时间划分下报告。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01  ·  框架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端到端技术流程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6</a:t>
            </a:r>
          </a:p>
        </p:txBody>
      </p:sp>
      <p:pic>
        <p:nvPicPr>
          <p:cNvPr id="8" name="Picture 7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247" y="1325880"/>
            <a:ext cx="5029200" cy="26829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7785"/>
                </a:solidFill>
                <a:latin typeface="Microsoft YaHei"/>
              </a:rPr>
              <a:t>三阶段:抽取结构化事件 → 学习滞后感知的事件类型结构 → 用透明表格模型预测。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02  ·  数据分析 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数据集概览与字段完整度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137160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9047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10,901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结构化事件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29968" y="1371600"/>
            <a:ext cx="137160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29968" y="149047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9,566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8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个股对齐样本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11296" y="1371600"/>
            <a:ext cx="137160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1296" y="149047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296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只股票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1371600"/>
            <a:ext cx="137160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92624" y="1490472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2010–23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2624" y="193852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时间跨度</a:t>
            </a:r>
          </a:p>
        </p:txBody>
      </p:sp>
      <p:pic>
        <p:nvPicPr>
          <p:cNvPr id="20" name="Picture 19" descr="fig_eda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97480"/>
            <a:ext cx="3200400" cy="1706578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858000" y="1371600"/>
            <a:ext cx="4846320" cy="46177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1517904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观察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1938528"/>
            <a:ext cx="448056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URL 完整 99.98%,Stock_symbol 67%,Author 32%,Publisher 21%。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6B7785"/>
                </a:solidFill>
                <a:latin typeface="Microsoft YaHei"/>
              </a:rPr>
              <a:t>      </a:t>
            </a:r>
            <a:r>
              <a:rPr sz="1000" b="0" i="0">
                <a:solidFill>
                  <a:srgbClr val="243748"/>
                </a:solidFill>
                <a:latin typeface="Microsoft YaHei"/>
              </a:rPr>
              <a:t>→ publisher / author 太稀疏无法监督;credibility 改由 URL 域名导出。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重复标题行:36,248 条(约 29%)。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6B7785"/>
                </a:solidFill>
                <a:latin typeface="Microsoft YaHei"/>
              </a:rPr>
              <a:t>      </a:t>
            </a:r>
            <a:r>
              <a:rPr sz="1000" b="0" i="0">
                <a:solidFill>
                  <a:srgbClr val="243748"/>
                </a:solidFill>
                <a:latin typeface="Microsoft YaHei"/>
              </a:rPr>
              <a:t>→ 同一事件被反复报道;由此引出 novelty 属性。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文章长度:中位 3,724 / p90 6,949 / p99 29,925 字符。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02  ·  数据分析 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事件线索密度 —— 为何要做事件抽取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8</a:t>
            </a:r>
          </a:p>
        </p:txBody>
      </p:sp>
      <p:pic>
        <p:nvPicPr>
          <p:cNvPr id="8" name="Picture 7" descr="fig_eda_c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63040"/>
            <a:ext cx="3931920" cy="21228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5212080"/>
            <a:ext cx="11201400" cy="114300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icrosoft YaHei"/>
              </a:rPr>
              <a:t>88% 的文章带明确的价格变动语言、77% 带数值比较 —— 语料不是弥散的观点,而是一串离散、可归类的事件。这就是「做结构化事件抽取而非打情感分」的实证依据。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02  ·  数据分析 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数据发现驱动 schema 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9</a:t>
            </a:r>
          </a:p>
        </p:txBody>
      </p:sp>
      <p:pic>
        <p:nvPicPr>
          <p:cNvPr id="8" name="Picture 7" descr="fig_datadrive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533" y="2468880"/>
            <a:ext cx="6594628" cy="3291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94360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785"/>
                </a:solidFill>
                <a:latin typeface="Microsoft YaHei"/>
              </a:rPr>
              <a:t>三个实测特性 —— 29% 重复、68–79% 来源缺失、89% 多范围 —— 各自推导出一个事件属性。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03  ·  方法 —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Phase 1 —— 结构化事件抽取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532120" cy="27432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结构化事件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51206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e = (类型, 主体, 对象, 幅度)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20 类事件本体(宏观 / 公司 / 知识 / 地缘)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+ 影响画像:极性、意外度、范围、新颖度、可信度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5440680" cy="27432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4630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FinBERT + 多头解码器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874519"/>
            <a:ext cx="50292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编码器:ProsusAI/finbert,金融文本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三个头:事件类型、论元跨度、幅度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弱监督:LLM 银标 + 规则/市场校正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553712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10,901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00176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结构化事件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55848" y="443484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55848" y="4553712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55848" y="500176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事件类型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3055" y="443484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63055" y="4553712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84.8%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63055" y="500176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平均属性覆盖率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70263" y="443484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70263" y="4553712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FinBERT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0263" y="5001768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编码器骨干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02  ·  数据分析 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事件流 —— 分布与属性覆盖率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11</a:t>
            </a:r>
          </a:p>
        </p:txBody>
      </p:sp>
      <p:pic>
        <p:nvPicPr>
          <p:cNvPr id="8" name="Picture 7" descr="fig_event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3291840" cy="1548780"/>
          </a:xfrm>
          <a:prstGeom prst="rect">
            <a:avLst/>
          </a:prstGeom>
        </p:spPr>
      </p:pic>
      <p:pic>
        <p:nvPicPr>
          <p:cNvPr id="9" name="Picture 8" descr="fig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508760"/>
            <a:ext cx="3154680" cy="181511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4983480"/>
            <a:ext cx="11201400" cy="137160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12064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icrosoft YaHei"/>
              </a:rPr>
              <a:t>事件类型长尾 —— 前三类占全部事件的 55%,所以训练必须类别感知。极性 / 范围 / 新颖度 / 可信度覆盖约 85%,作为标准属性;意外度稀疏(6.6%),作为高价值指示器。50 样本抽审:类型一致 84%、动作 78%、极性 91%。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03  ·  方法 — 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Phase 2 —— 滞后感知因果发现 (STACD)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212080" cy="43891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目标 —— 两个矩阵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800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A ∈ (0,1)²⁰ˣ²⁰ —— 事件类型间的有向强度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T_lag —— 预期滞后天数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机制 —— STACD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37560"/>
            <a:ext cx="4800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稀疏时序注意力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时间方向掩码 —— 只允许过去影响未来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滞后感知高斯门 + 因果强度门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NOTEARS 式无环 (DAG) 正则项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325880"/>
            <a:ext cx="5669280" cy="438912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48132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注意力调制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201168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icrosoft YaHei"/>
              </a:rPr>
              <a:t>g_ij = exp( -(|t_i-t_j| - T_lag[k_j,k_i])^2 / 2σ^2 )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615184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icrosoft YaHei"/>
              </a:rPr>
              <a:t>s_ij' = s_ij + log m_ij + log g_ij + log A[k_j,k_i]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21868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icrosoft YaHei"/>
              </a:rPr>
              <a:t>α_ij = softmax_j ( s_ij' 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822191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Microsoft YaHei"/>
              </a:rPr>
              <a:t>L = L_pred + λ1·||A||1 + λ_DAG·h(A)^2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57200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C9D6E3"/>
                </a:solidFill>
                <a:latin typeface="Microsoft YaHei"/>
              </a:rPr>
              <a:t>节点是事件类型而非个股 —— 该图为可解释、可迁移的事件链分析而设计。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03  ·  方法 — 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Phase 3 —— 问题设定与数据集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486400" cy="27889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输入 → 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Microsoft YaHei"/>
              </a:rPr>
              <a:t>最近 32 个新闻事件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Microsoft YaHei"/>
              </a:rPr>
              <a:t>30 天 OHLCV 价格窗口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Microsoft YaHei"/>
              </a:rPr>
              <a:t>目标股票身份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300" b="0" i="0">
                <a:solidFill>
                  <a:srgbClr val="243748"/>
                </a:solidFill>
                <a:latin typeface="Microsoft YaHei"/>
              </a:rPr>
              <a:t>输出:次日方向,阈值 ±0.5%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25880"/>
            <a:ext cx="5394960" cy="27889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630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三分类分布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2F9E74"/>
                </a:solidFill>
                <a:latin typeface="Microsoft YaHei"/>
              </a:rPr>
              <a:t>39.4%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Microsoft YaHei"/>
              </a:rPr>
              <a:t>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93608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C2492F"/>
                </a:solidFill>
                <a:latin typeface="Microsoft YaHei"/>
              </a:rPr>
              <a:t>43.3%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Microsoft YaHei"/>
              </a:rPr>
              <a:t>DOWN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49256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49256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6B7785"/>
                </a:solidFill>
                <a:latin typeface="Microsoft YaHei"/>
              </a:rPr>
              <a:t>17.3%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9256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Microsoft YaHei"/>
              </a:rPr>
              <a:t>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7785"/>
                </a:solidFill>
                <a:latin typeface="Microsoft YaHei"/>
              </a:rPr>
              <a:t>FLAT 是少数类 —— 因此主看 macro-F1。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389120"/>
            <a:ext cx="352044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507992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9,566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956048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个股对齐样本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0248" y="4389120"/>
            <a:ext cx="352044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70248" y="4507992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70248" y="4956048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只股票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91856" y="4389120"/>
            <a:ext cx="352044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91856" y="4507992"/>
            <a:ext cx="3520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E3861F"/>
                </a:solidFill>
                <a:latin typeface="Microsoft YaHei"/>
              </a:rPr>
              <a:t>2010–2023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6" y="4956048"/>
            <a:ext cx="3520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FFFFFF"/>
                </a:solidFill>
                <a:latin typeface="Microsoft YaHei"/>
              </a:rPr>
              <a:t>时间跨度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03  ·  方法 — 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Phase 3 —— 特征工程与模型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11109960" cy="13716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447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x = [ 价格 ‖ 事件 ‖ 股票身份 ]   —   一个 132 维向量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10512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Microsoft YaHei"/>
              </a:rPr>
              <a:t>价格 28 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57984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7785"/>
                </a:solidFill>
                <a:latin typeface="Microsoft YaHei"/>
              </a:rPr>
              <a:t>收益率、波动率、对数成交量、OHLC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810512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Microsoft YaHei"/>
              </a:rPr>
              <a:t>事件 82 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157984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7785"/>
                </a:solidFill>
                <a:latin typeface="Microsoft YaHei"/>
              </a:rPr>
              <a:t>类型计数、带符号/绝对幅度和、末事件类型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810512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Microsoft YaHei"/>
              </a:rPr>
              <a:t>股票 22 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157984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6B7785"/>
                </a:solidFill>
                <a:latin typeface="Microsoft YaHei"/>
              </a:rPr>
              <a:t>股票 one-hot 身份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926080"/>
            <a:ext cx="11109960" cy="26974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8152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3861F"/>
                </a:solidFill>
                <a:latin typeface="Microsoft YaHei"/>
              </a:rPr>
              <a:t>为什么 Phase 3 用 HistGradientBoosting 而非神经网络?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520440"/>
            <a:ext cx="1060704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50" b="0" i="0">
                <a:solidFill>
                  <a:srgbClr val="FFFFFF"/>
                </a:solidFill>
                <a:latin typeface="Microsoft YaHei"/>
              </a:rPr>
              <a:t>异构特征 —— 天然处理计数、比率、one-hot。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50" b="0" i="0">
                <a:solidFill>
                  <a:srgbClr val="FFFFFF"/>
                </a:solidFill>
                <a:latin typeface="Microsoft YaHei"/>
              </a:rPr>
              <a:t>强且可解释的基线 —— 能量化各信息源的贡献。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50" b="0" i="0">
                <a:solidFill>
                  <a:srgbClr val="FFFFFF"/>
                </a:solidFill>
                <a:latin typeface="Microsoft YaHei"/>
              </a:rPr>
              <a:t>树分裂对尺度不敏感 —— 特征工程量小。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50" b="0" i="0">
                <a:solidFill>
                  <a:srgbClr val="C9D6E3"/>
                </a:solidFill>
                <a:latin typeface="Microsoft YaHei"/>
              </a:rPr>
              <a:t>配置:max_iter 150 · learning_rate 0.04 · l2 0.05。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04  ·  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核心结果 —— 分层划分 vs 时间划分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15</a:t>
            </a:r>
          </a:p>
        </p:txBody>
      </p:sp>
      <p:pic>
        <p:nvPicPr>
          <p:cNvPr id="8" name="Picture 7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160520" cy="278720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0" y="1371600"/>
            <a:ext cx="5303520" cy="46177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517904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两个诚实的解读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938528"/>
            <a:ext cx="4892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分层随机 —— macro-F1 0.693、准确率 0.728。明显高于 0.43 多数类与 0.33 随机基线:特征含有效信号。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时间顺序 —— macro-F1 0.337。接近随机,与半强式市场有效一致。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785"/>
                </a:solidFill>
                <a:latin typeface="Microsoft YaHei"/>
              </a:rPr>
              <a:t>      </a:t>
            </a:r>
            <a:r>
              <a:rPr sz="1050" b="0" i="0">
                <a:solidFill>
                  <a:srgbClr val="1D3A5F"/>
                </a:solidFill>
                <a:latin typeface="Microsoft YaHei"/>
              </a:rPr>
              <a:t>我们两个都报 —— 只报分层那个数会高估真实预测力。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04  ·  实验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消融实验 —— 各信息源的贡献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3748"/>
                </a:solidFill>
                <a:latin typeface="Microsoft YaHei"/>
              </a:rPr>
              <a:t>组合特征模型在分层随机划分下的 macro-F1: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554480" y="1783080"/>
          <a:ext cx="9052560" cy="17007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852160"/>
                <a:gridCol w="1463040"/>
                <a:gridCol w="173736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特征集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icrosoft YaHei"/>
                        </a:rPr>
                        <a:t>Macro-F1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43748"/>
                          </a:solidFill>
                          <a:latin typeface="Microsoft YaHei"/>
                        </a:rPr>
                        <a:t>价格 + 事件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  <a:latin typeface="Microsoft YaHei"/>
                        </a:rPr>
                        <a:t>110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  <a:latin typeface="Microsoft YaHei"/>
                        </a:rPr>
                        <a:t>0.684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43748"/>
                          </a:solidFill>
                          <a:latin typeface="Microsoft YaHei"/>
                        </a:rPr>
                        <a:t>完整:价格 + 事件 + 股票身份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  <a:latin typeface="Microsoft YaHei"/>
                        </a:rPr>
                        <a:t>132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43748"/>
                          </a:solidFill>
                          <a:latin typeface="Microsoft YaHei"/>
                        </a:rPr>
                        <a:t>0.693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48640" y="3657600"/>
            <a:ext cx="11109960" cy="21031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22191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Microsoft YaHei"/>
              </a:rPr>
              <a:t>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206240"/>
            <a:ext cx="106070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加入股票身份把 macro-F1 从 0.684 提到 0.693 —— 个股特有的波动与反应模式仍有用。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Microsoft YaHei"/>
              </a:rPr>
              <a:t>组合表示在分层划分下可学习 —— 这是我们汇报的配置。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05  ·  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与基线的多维对比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71600"/>
          <a:ext cx="11201400" cy="340156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377440"/>
                <a:gridCol w="4206240"/>
                <a:gridCol w="461772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维度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CausalStock(NeurIPS 2024)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icrosoft YaHei"/>
                        </a:rPr>
                        <a:t>我们</a:t>
                      </a:r>
                    </a:p>
                  </a:txBody>
                  <a:tcPr anchor="ctr" marL="73152" marR="45720" marT="18288" marB="18288">
                    <a:solidFill>
                      <a:srgbClr val="1D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3748"/>
                          </a:solidFill>
                          <a:latin typeface="Microsoft YaHei"/>
                        </a:rPr>
                        <a:t>因果层级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个股级图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事件类型级图(20×20)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3748"/>
                          </a:solidFill>
                          <a:latin typeface="Microsoft YaHei"/>
                        </a:rPr>
                        <a:t>新闻表示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稠密去噪嵌入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结构化事件 + 影响画像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3748"/>
                          </a:solidFill>
                          <a:latin typeface="Microsoft YaHei"/>
                        </a:rPr>
                        <a:t>预测任务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二分类 涨/跌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三分类,带 ±0.5% FLAT 区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3748"/>
                          </a:solidFill>
                          <a:latin typeface="Microsoft YaHei"/>
                        </a:rPr>
                        <a:t>评估协议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多为随机划分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分层 + 时间 双划分</a:t>
                      </a:r>
                    </a:p>
                  </a:txBody>
                  <a:tcPr anchor="ctr" marL="73152" marR="45720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43748"/>
                          </a:solidFill>
                          <a:latin typeface="Microsoft YaHei"/>
                        </a:rPr>
                        <a:t>数据规模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更大,多数据集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43748"/>
                          </a:solidFill>
                          <a:latin typeface="Microsoft YaHei"/>
                        </a:rPr>
                        <a:t>5% FNSPID 子集,22 股</a:t>
                      </a:r>
                    </a:p>
                  </a:txBody>
                  <a:tcPr anchor="ctr" marL="73152" marR="45720" marT="18288" marB="18288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5212080"/>
            <a:ext cx="11201400" cy="91440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340096"/>
            <a:ext cx="106070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icrosoft YaHei"/>
              </a:rPr>
              <a:t>互补而非竞争 —— 事件类型级因果可跨公司、跨市场迁移;个股级因果绑定在固定股票池。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05  ·  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对比 —— 对差距的可解释分析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43748"/>
                </a:solidFill>
                <a:latin typeface="Microsoft YaHei"/>
              </a:rPr>
              <a:t>我们的设定比基线更难、更严格 —— 差距可沿四个维度解释: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91640"/>
            <a:ext cx="11109960" cy="8412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417320" cy="841248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38528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1783080"/>
            <a:ext cx="93268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243748"/>
                </a:solidFill>
                <a:latin typeface="Microsoft YaHei"/>
              </a:rPr>
              <a:t>我们做带 ±0.5% FLAT 死区的三分类;基线是二分类涨/跌。FLAT 是最难的少数类。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651760"/>
            <a:ext cx="11109960" cy="8412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51760"/>
            <a:ext cx="1417320" cy="841248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898648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数据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2743200"/>
            <a:ext cx="93268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243748"/>
                </a:solidFill>
                <a:latin typeface="Microsoft YaHei"/>
              </a:rPr>
              <a:t>5% FNSPID 子集、22 只股票 —— 规模小得多;此规模下跨股票的关系信号有限。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611880"/>
            <a:ext cx="11109960" cy="8412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611880"/>
            <a:ext cx="1417320" cy="841248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858768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协议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703320"/>
            <a:ext cx="93268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243748"/>
                </a:solidFill>
                <a:latin typeface="Microsoft YaHei"/>
              </a:rPr>
              <a:t>真正可比的是我们的时间划分数;随机划分混合市场体制,会高估表现。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72000"/>
            <a:ext cx="11109960" cy="841248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572000"/>
            <a:ext cx="1417320" cy="841248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818888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Microsoft YaHei"/>
              </a:rPr>
              <a:t>方法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663440"/>
            <a:ext cx="932688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 i="0">
                <a:solidFill>
                  <a:srgbClr val="243748"/>
                </a:solidFill>
                <a:latin typeface="Microsoft YaHei"/>
              </a:rPr>
              <a:t>基线把新闻与价格导出的因果骨架端到端耦合;我们评测的是聚合事件统计上的透明表格模型 —— 可解释但有损。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66928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785"/>
                </a:solidFill>
                <a:latin typeface="Microsoft YaHei"/>
              </a:rPr>
              <a:t>我们不声称击败基线 —— 我们的贡献是可迁移的事件类型形式化,以及更严格、更诚实的评估。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05  ·  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总结与未来工作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5486400" cy="42976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5486400" cy="457200"/>
          </a:xfrm>
          <a:prstGeom prst="rect">
            <a:avLst/>
          </a:prstGeom>
          <a:solidFill>
            <a:srgbClr val="2F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4475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我们的贡献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65960"/>
            <a:ext cx="51206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更清晰的事件结构化问题形式化。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EDA 驱动的事件 schema —— 属性由实测数据得来。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数学上明确定义的滞后感知事件因果模型。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把信息含量与前向可预测性分开的诚实分析。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371600"/>
            <a:ext cx="5486400" cy="42976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371600"/>
            <a:ext cx="5486400" cy="457200"/>
          </a:xfrm>
          <a:prstGeom prst="rect">
            <a:avLst/>
          </a:prstGeom>
          <a:solidFill>
            <a:srgbClr val="2E6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444752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icrosoft YaHei"/>
              </a:rPr>
              <a:t>未来工作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1206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把 A 与 T_lag 直接作为 Phase-3 特征整合进去。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建模跨股票的事件传播。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引入体制感知的时间编码以缓解分布漂移。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900"/>
              </a:spcAft>
            </a:pPr>
            <a:r>
              <a:rPr sz="1150" b="1" i="0">
                <a:solidFill>
                  <a:srgbClr val="E3861F"/>
                </a:solidFill>
                <a:latin typeface="Microsoft YaHe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Microsoft YaHei"/>
              </a:rPr>
              <a:t>以滚动前向验证作为默认协议。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80644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785"/>
                </a:solidFill>
                <a:latin typeface="Microsoft YaHei"/>
              </a:rPr>
              <a:t>我们不声称解决了股价预测 —— 我们给出的是清晰的形式化,以及结构化新闻在哪里有用的诚实研究。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Microsoft YaHei"/>
              </a:rPr>
              <a:t>致谢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FFFFFF"/>
                </a:solidFill>
                <a:latin typeface="Microsoft YaHei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CausalStock  ·  CS173 数据挖掘  ·  第二组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Microsoft YaHei"/>
              </a:rPr>
              <a:t>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94560"/>
            <a:ext cx="11109960" cy="237744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1109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FFFFFF"/>
                </a:solidFill>
                <a:latin typeface="Microsoft YaHei"/>
              </a:rPr>
              <a:t>Q &amp; A   —   感谢聆听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11109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DB0C4"/>
                </a:solidFill>
                <a:latin typeface="Microsoft YaHei"/>
              </a:rPr>
              <a:t>CausalStock  ·  CS173 Data Mining Final  ·  Team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