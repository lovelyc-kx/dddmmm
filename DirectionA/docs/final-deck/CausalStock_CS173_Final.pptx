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CS173  ·  DATA MINING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9D6E3"/>
                </a:solidFill>
                <a:latin typeface="Calibri"/>
              </a:rPr>
              <a:t>Event-Structured Temporal Causal Modeling for News-Driven Stock Prediction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Data-driven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3 EDA findings  →  3 new event attributes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Structured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20-class events instead of one sentiment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Honest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stratified + chronological dual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Team 2     ·     CS173 Final Project     ·   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618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554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Problem &amp; 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75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What prior methods get wrong, and the three things we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761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697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Framework &amp;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118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The three-stage pipeline; exploratory data analysis that drives the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904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3840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261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Phase 1 event extraction · Phase 2 causal discovery · Phase 3 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5047488"/>
            <a:ext cx="54864" cy="64008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4983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Experiments &amp; 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04104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Results, ablation, comparison, and an honest 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What Prior Methods Get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Most news-driven models compress each article into one sentiment score. Three things break: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7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1.  Information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58568"/>
            <a:ext cx="7223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 single sentiment score discards the event's type, magnitude, and affected entity.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65960"/>
            <a:ext cx="32461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"Apple launches a new iPhone, outlook +20%"  →  sentiment +0.8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64408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64408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74136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2.  Lack of Causality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39896"/>
            <a:ext cx="7223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Models capture surface correlation, not the logic between events, and cannot explain a prediction.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Cannot tell a rate hike acting directly vs. via lowered earnings.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745736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55464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3.  Ignoring Temporal Dynamics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21224"/>
            <a:ext cx="7223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 news impact is treated as instantaneous — missing lag, diffusion, and gradual effects.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928616"/>
            <a:ext cx="32461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A policy change may surface in prices only days or weeks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What We Change — Three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Each prior-method problem maps to one design change in CausalStock: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109960" cy="2633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120640"/>
                <a:gridCol w="598932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Prior-method problem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CausalStock innovation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Information loss (sentiment scalar)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Structured event:  (subject, action, object, magnitude) + impact profile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Lack of causality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Lag-aware causal discovery over 20 event types  —  a transferable graph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Ignoring temporal dynamics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A learned lag matrix T_lag and lag-gated attention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617720"/>
            <a:ext cx="11109960" cy="14630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7316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Two principles cut across all three: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38928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Data-driven — the event schema is earned from a measured EDA of the corpus, not assumed.   Honest — every result is reported under both a stratified and a chronological split.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End-to-End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47" y="1325880"/>
            <a:ext cx="5029200" cy="26829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Three stages: extract structured events, learn lag-aware event-type structure, predict with a transparent tabular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Exploratory Data Analysis — The Data Drives the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717" y="2743200"/>
            <a:ext cx="6228260" cy="3108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1371600"/>
            <a:ext cx="11109960" cy="123444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D3A5F"/>
                </a:solidFill>
                <a:latin typeface="Calibri"/>
              </a:rPr>
              <a:t>We profiled the raw FNSPID 5% subset before fixing the schema: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47088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88% of articles carry price-movement language and 77% a numeric comparison — the corpus is event-dense, so structured event extraction is justified over sentiment scoring. Three further findings each motivate one attribute: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1 — Structured Event Extraction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STRUCTURED 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e = (type, subject, object, magnitude)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20-class event ontology (Macro / Corporate / Knowledge / Geopolitical)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+ impact profile: polarity, surprise, scope, novelty, credibility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44068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FinBERT + MULTI-HEAD DECODER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Encoder: ProsusAI/finbert for financial text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Three heads: event-type, argument spans, magnitude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Weak supervision: LLM silver labels + rule/market corrections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10,901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structured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event types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84.8%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5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avg attribute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0263" y="4434840"/>
            <a:ext cx="265176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3" y="45720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3861F"/>
                </a:solidFill>
                <a:latin typeface="Calibri"/>
              </a:rPr>
              <a:t>ProsusAI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0263" y="502920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finbert encoder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2 — Lag-Aware Causal Discovery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212080" cy="4389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GOAL — TWO MATRICES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800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 ∈ (0,1)²⁰ˣ²⁰ — directed event-type strength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T_lag — expected lag, in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MECHANISM — STACD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800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Sparse temporal attention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Time-direction mask — only past attends to future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Lag-aware Gaussian gate + causal-strength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NOTEARS-style acyclicity (DAG) regularizer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325880"/>
            <a:ext cx="5669280" cy="43891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ATTENTION MODULATION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g_ij = exp( −(|t_i−t_j| − T_lag[k_j,k_i])² / 2σ²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61518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s̃_ij = s_ij + log m_ij + log g_ij + log A[k_j,k_i]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1868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α_ij = softmax_j ( s̃_ij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L = L_pred + λ₁‖A‖₁ + λ_DAG · h(A)²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57200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3"/>
                </a:solidFill>
                <a:latin typeface="Calibri"/>
              </a:rPr>
              <a:t>Nodes are event types, not stocks — the resulting graph is designed to support interpretable, transferable event-chain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3 — Problem Setup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INPUTS  → 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32 recent news events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30-day OHLCV price window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Target stock identity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Output: next-day direction, threshold ±0.5%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THREE-CLASS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Calibr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Calibr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Calibr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FLAT is the minority class — macro-F1 is emphasized.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89120"/>
            <a:ext cx="352044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3861F"/>
                </a:solidFill>
                <a:latin typeface="Calibri"/>
              </a:rPr>
              <a:t>9,566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0176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ticker-aligned examples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0248" y="4389120"/>
            <a:ext cx="352044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45262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3861F"/>
                </a:solidFill>
                <a:latin typeface="Calibri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0248" y="500176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4389120"/>
            <a:ext cx="3520440" cy="10972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5262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3861F"/>
                </a:solidFill>
                <a:latin typeface="Calibri"/>
              </a:rPr>
              <a:t>2010–2023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500176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time span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3 — Feature Engineering &amp;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109960" cy="12801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x = [ price ‖ event ‖ stock-ID ]   —   a 132-dimensional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Price  28-d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3969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returns, volatility, log-volume, OHLC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Event  82-d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3969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type counts, signed/abs magnitude, last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Stock  22-d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3969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one-hot ticker identity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80360"/>
            <a:ext cx="11109960" cy="27432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358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Why HistGradientBoosting (HGB) over a neural net?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7472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Heterogeneous features — handles counts, ratios, and one-hots natively.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Strong, interpretable baseline — quantifies each source's contribution.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Scale-invariant tree splits — minimal feature engineering.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C9D6E3"/>
                </a:solidFill>
                <a:latin typeface="Calibri"/>
              </a:rPr>
              <a:t>Configuration: max_iter 150 · learning_rate 0.04 · l2 0.05.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3 — Feature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PRICE FEATURES  (28-d)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50749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Daily returns — 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Return statistics (mean, std, 5-day) — 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Log-volume statistics — 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Relative OHLC summaries —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44068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EVENT FEATURES  (82-d)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502920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Per-type event counts — 20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Signed magnitude sums — 20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Absolute magnitude sums — 20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Last-event one-hot — 20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Global magnitude statistics —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Key Result — Stratified vs Chronological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60520" cy="27872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TWO HONEST READINGS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Stratified random — macro-F1 0.693, accuracy 0.728. Well above the 0.43 majority and 0.33 random baselines: the features carry usable signal.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Chronological — macro-F1 0.337. Near random, consistent with semi-strong market efficiency: forward-time prediction is genuinely hard.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1" i="0">
                <a:solidFill>
                  <a:srgbClr val="1D3A5F"/>
                </a:solidFill>
                <a:latin typeface="Calibri"/>
              </a:rPr>
              <a:t>We report both splits — reporting only the stratified number would overstate real-world predictive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Ablation — Feature-Group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Stratified-random macro-F1 for the combined-feature models: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554480" y="1783080"/>
          <a:ext cx="90525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852160"/>
                <a:gridCol w="1463040"/>
                <a:gridCol w="17373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Feature set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Dim.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</a:rPr>
                        <a:t>Price + events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</a:rPr>
                        <a:t>110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</a:rPr>
                        <a:t>0.684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</a:rPr>
                        <a:t>Full model:  price + events + stock ID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</a:rPr>
                        <a:t>132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</a:rPr>
                        <a:t>0.693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3657600"/>
            <a:ext cx="11109960" cy="2103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Reading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Adding stock identity lifts macro-F1 from 0.684 to 0.693 — ticker-specific volatility and reaction patterns remain useful.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The combined price-event-stock representation is learnable under a stratified split; it is the configuration we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Comparison with the NeurIPS 2024 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01400" cy="3017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60320"/>
                <a:gridCol w="4114800"/>
                <a:gridCol w="45262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Axis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CausalStock (NeurIPS 2024)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Causality level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Stock-level graph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Event-type graph (20×20)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News representation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Dense denoised embedding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Structured event + impact profile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Prediction task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Binary up / down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3-class with a ±0.5% FLAT zone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Evaluation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Mostly random split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Stratified + chronological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736592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Complementary, not competing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02352"/>
            <a:ext cx="10607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Event-type causality transfers across companies and markets; stock-level causality is bound to a fixed company universe. We evaluate on a stricter, dual-split protocol.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WE CONTRIBUTE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 clearer event-structured problem formulation.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An EDA-driven event schema — three attributes earned from measured data.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 mathematically specified lag-aware event-causal model.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An honest analysis separating in-distribution information content from forward-time predictability.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71600"/>
            <a:ext cx="548640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Integrate A and T_lag directly as Phase-3 features.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Model cross-stock event propagation.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Regime-aware temporal encoding against distribution shift.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Rolling walk-forward validation as the default protocol.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Calibri"/>
              </a:rPr>
              <a:t>We do not claim solved stock prediction — we claim a clean formulation and an honest study of where structured news helps.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1109960" cy="23774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109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Q &amp; A   —   Thank you for listening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CausalStock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