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79776"/>
            <a:ext cx="12191695" cy="54864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CS173  ·  DATA MINING  · 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234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400" b="1" i="0">
                <a:solidFill>
                  <a:srgbClr val="FFFFFF"/>
                </a:solidFill>
                <a:latin typeface="Calibri"/>
              </a:rPr>
              <a:t>CausalStock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9D6E3"/>
                </a:solidFill>
                <a:latin typeface="Calibri"/>
              </a:rPr>
              <a:t>Event-Structured Temporal Causal Modeling for News-Driven Stock Prediction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Data-driven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3 EDA findings  →  3 new event attributes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Structured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20-class events, not one sentiment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Honest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stratified + chronological dual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Calibri"/>
              </a:rPr>
              <a:t>Team 2     ·     CS173 Final Project     ·   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618488"/>
            <a:ext cx="54864" cy="64008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1554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Problem &amp; Innovation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75104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What prior methods get wrong, and the three things we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2761488"/>
            <a:ext cx="54864" cy="64008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697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Framework &amp;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118104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The three-stage pipeline; the EDA that drives the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3904488"/>
            <a:ext cx="54864" cy="64008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5960" y="3840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261104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Phase 1 extraction · Phase 2 causal discovery · Phase 3 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5047488"/>
            <a:ext cx="54864" cy="64008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4983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Experiments &amp; 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04104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Results, ablation, comparison, and an honest 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What Prior Methods Get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Most news-driven models compress each article into one sentiment score. Three things break: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92807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1.  Information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76856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A single sentiment score discards the event's type, magnitude, and affected entity.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965960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"Apple launches iPhone, outlook +20%" → sentiment +0.8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64408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264408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74136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2.  Lack of Causality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58184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Models capture surface correlation, not the logic between events, and cannot explain a prediction.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447288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Cannot tell a rate hike acting directly vs. via earnings.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745736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55464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3.  Ignoring Temporal Dynamics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39512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A news impact is treated as instantaneous — missing lag, diffusion, and gradual effects.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A policy change may surface in prices only days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What We Change — Three Innovations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Each prior-method problem maps to one design change in CausalStock: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109960" cy="26334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29200"/>
                <a:gridCol w="608076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Prior-method problem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CausalStock innovation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Calibri"/>
                        </a:rPr>
                        <a:t>Information loss (sentiment scalar)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Calibri"/>
                        </a:rPr>
                        <a:t>Structured event: (S, A, O, magnitude) + impact profile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Calibri"/>
                        </a:rPr>
                        <a:t>Lack of causality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Calibri"/>
                        </a:rPr>
                        <a:t>Lag-aware causal discovery over 20 event types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Calibri"/>
                        </a:rPr>
                        <a:t>Ignoring temporal dynamics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Calibri"/>
                        </a:rPr>
                        <a:t>A learned lag matrix T_lag and lag-gated attention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4617720"/>
            <a:ext cx="11109960" cy="14630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73168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Two principles cut across all three: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138928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Data-driven — the event schema is earned from a measured EDA of the corpus, not assumed.   Honest — every result is reported under both a stratified and a chronological split.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End-to-End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247" y="1325880"/>
            <a:ext cx="5029200" cy="26829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Three stages: extract structured events, learn lag-aware event-type structure, predict with a transparent tabular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EDA — Missingness, Duplication, Event Density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fig_eda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3383280" cy="1804096"/>
          </a:xfrm>
          <a:prstGeom prst="rect">
            <a:avLst/>
          </a:prstGeom>
        </p:spPr>
      </p:pic>
      <p:pic>
        <p:nvPicPr>
          <p:cNvPr id="9" name="Picture 8" descr="fig_eda_clu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508760"/>
            <a:ext cx="3566160" cy="19253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5212080"/>
            <a:ext cx="11201400" cy="11430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340096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URL is ~complete while publisher/author are mostly missing → credibility from the URL domain. 88% price language / 77% numeric cues → the corpus is event-dense, so structured extraction is justified.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EDA — Data Findings Drive the 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fig_datadriv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533" y="2468880"/>
            <a:ext cx="6594628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4360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Calibri"/>
              </a:rPr>
              <a:t>Three measured properties — 29% duplicates, 68–79% missing provenance, 89% multi-scope — each motivate one event attribute.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Phase 1 — Structured Event Extraction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53212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STRUCTURED 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e = (type, subject, object, magnitude)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20-class event ontology (Macro / Corp / Knowledge / Geo)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+ impact profile: polarity, surprise, scope, novelty, credibility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44068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FinBERT + MULTI-HEAD DECODER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Encoder: ProsusAI/finbert for financial text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Three heads: event-type, argument spans, magnitude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Weak supervision: LLM silver labels + rule/market corrections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265176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3861F"/>
                </a:solidFill>
                <a:latin typeface="Calibri"/>
              </a:rPr>
              <a:t>10,901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structured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4434840"/>
            <a:ext cx="265176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45720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3861F"/>
                </a:solidFill>
                <a:latin typeface="Calibri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50292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event types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4434840"/>
            <a:ext cx="265176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45720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3861F"/>
                </a:solidFill>
                <a:latin typeface="Calibri"/>
              </a:rPr>
              <a:t>84.8%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3055" y="50292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avg attribute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0263" y="4434840"/>
            <a:ext cx="265176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0263" y="45720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3861F"/>
                </a:solidFill>
                <a:latin typeface="Calibri"/>
              </a:rPr>
              <a:t>FinBERT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0263" y="50292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encoder backbone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Event Stream — Distribution &amp; Attribute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fig_even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383280" cy="1591802"/>
          </a:xfrm>
          <a:prstGeom prst="rect">
            <a:avLst/>
          </a:prstGeom>
        </p:spPr>
      </p:pic>
      <p:pic>
        <p:nvPicPr>
          <p:cNvPr id="9" name="Picture 8" descr="fig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4480"/>
            <a:ext cx="3200400" cy="18414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5074920"/>
            <a:ext cx="11201400" cy="12801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Event types are long-tailed (top-3 = 55%) → class-aware training. Polarity / scope / novelty / credibility reach ~85% coverage and are treated as standard attributes; surprise is sparse (6.6%) and treated as a high-value indicator.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Phase 2 — Lag-Aware Causal Discovery (STACD)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212080" cy="4389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GOAL — TWO MATRICES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800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A ∈ (0,1)²⁰ˣ²⁰ — directed event-type strength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T_lag — expected lag, in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MECHANISM — STACD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4800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Sparse temporal attention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Time-direction mask — only past attends to future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Lag-aware Gaussian gate + causal-strength gate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NOTEARS-style acyclicity (DAG) regularizer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325880"/>
            <a:ext cx="5669280" cy="43891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ATTENTION MODULATION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g_ij = exp( -(|t_i-t_j| - T_lag[k_j,k_i])^2 / 2σ^2 )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61518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s_ij' = s_ij + log m_ij + log g_ij + log A[k_j,k_i]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1868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α_ij = softmax_j ( s_ij'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L = L_pred + λ1·||A||1 + λ_DAG·h(A)^2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57200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C9D6E3"/>
                </a:solidFill>
                <a:latin typeface="Calibri"/>
              </a:rPr>
              <a:t>Nodes are event types, not stocks — the graph is designed to support interpretable, transferable event-chain analysis.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Phase 3 — Problem Setup &amp;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48640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INPUTS  → 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32 recent news events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30-day OHLCV price window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Target stock identity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Output: next-day direction, threshold ±0.5%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39496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THREE-CLASS DISTRIBUTION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2F9E74"/>
                </a:solidFill>
                <a:latin typeface="Calibri"/>
              </a:rPr>
              <a:t>39.4%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C2492F"/>
                </a:solidFill>
                <a:latin typeface="Calibri"/>
              </a:rPr>
              <a:t>43.3%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DOWN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49256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9256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6B7785"/>
                </a:solidFill>
                <a:latin typeface="Calibri"/>
              </a:rPr>
              <a:t>17.3%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56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FLAT is the minority class — macro-F1 is emphasized.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89120"/>
            <a:ext cx="352044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3861F"/>
                </a:solidFill>
                <a:latin typeface="Calibri"/>
              </a:rPr>
              <a:t>9,566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00176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ticker-aligned examples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0248" y="4389120"/>
            <a:ext cx="352044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45262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3861F"/>
                </a:solidFill>
                <a:latin typeface="Calibri"/>
              </a:rPr>
              <a:t>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0248" y="500176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stocks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4389120"/>
            <a:ext cx="352044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5262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3861F"/>
                </a:solidFill>
                <a:latin typeface="Calibri"/>
              </a:rPr>
              <a:t>2010–2023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500176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time span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Phase 3 — Feature Engineering &amp;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x = [ price ‖ event ‖ stock-ID ]   —   a 132-dimensional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Price  28-d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Calibri"/>
              </a:rPr>
              <a:t>returns, volatility, log-volume, OHLC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Event  82-d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Calibri"/>
              </a:rPr>
              <a:t>type counts, signed/abs magnitude, last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Stock  22-d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Calibri"/>
              </a:rPr>
              <a:t>one-hot ticker identity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26080"/>
            <a:ext cx="11109960" cy="26974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8152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Why HistGradientBoosting (HGB) over a neural net?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204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Heterogeneous features — handles counts, ratios, one-hots.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Strong, interpretable baseline — quantifies each source.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Scale-invariant tree splits — minimal feature engineering.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C9D6E3"/>
                </a:solidFill>
                <a:latin typeface="Calibri"/>
              </a:rPr>
              <a:t>Config: max_iter 150 · learning_rate 0.04 · l2 0.05.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Key Result — Stratified vs Chronological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160520" cy="27872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371600"/>
            <a:ext cx="53035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1790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TWO HONEST READINGS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892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Stratified random — macro-F1 0.693, accuracy 0.728. Well above the 0.43 majority and 0.33 random baselines: the features carry signal.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Chronological — macro-F1 0.337. Near random, consistent with semi-strong market efficiency: forward-time prediction is hard.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0" i="0">
                <a:solidFill>
                  <a:srgbClr val="1D3A5F"/>
                </a:solidFill>
                <a:latin typeface="Calibri"/>
              </a:rPr>
              <a:t>We report both — reporting only the stratified number would overstate real-world predictive power.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Ablation — Feature-Group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Stratified-random macro-F1 for the combined-feature models: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554480" y="1783080"/>
          <a:ext cx="90525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852160"/>
                <a:gridCol w="1463040"/>
                <a:gridCol w="17373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Dim.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  <a:latin typeface="Calibri"/>
                        </a:rPr>
                        <a:t>Price + events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Calibri"/>
                        </a:rPr>
                        <a:t>0.684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  <a:latin typeface="Calibri"/>
                        </a:rPr>
                        <a:t>Full:  price + events + stock ID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Calibri"/>
                        </a:rPr>
                        <a:t>0.693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3657600"/>
            <a:ext cx="11109960" cy="2103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2219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Reading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Adding stock identity lifts macro-F1 from 0.684 to 0.693 — ticker-specific volatility and reaction patterns remain useful.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The combined representation is learnable under a stratified split — it is the configuration we report.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Comparison with the NeurIPS 2024 CausalStock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01400" cy="3017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60320"/>
                <a:gridCol w="4114800"/>
                <a:gridCol w="452628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Axis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CausalStock (NeurIPS 2024)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Calibri"/>
                        </a:rPr>
                        <a:t>Causality level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Stock-level graph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Event-type graph (20×20)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Calibri"/>
                        </a:rPr>
                        <a:t>News representation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Dense denoised embedding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Structured event + impact profile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Calibri"/>
                        </a:rPr>
                        <a:t>Prediction task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Binary up / down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3-class with a ±0.5% FLAT zone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Calibri"/>
                        </a:rPr>
                        <a:t>Evaluation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Mostly random split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Stratified + chronological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736592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Complementary, not competing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02352"/>
            <a:ext cx="10607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Event-type causality transfers across companies and markets; stock-level causality is bound to a fixed company universe. We evaluate on a stricter, dual-split protocol.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WE CONTRIBUTE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 clearer event-structured problem formulation.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An EDA-driven event schema — attributes earned from measured data.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 mathematically specified lag-aware event-causal model.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An honest analysis separating information content from forward-time predictability.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71600"/>
            <a:ext cx="5486400" cy="4572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Integrate A and T_lag directly as Phase-3 features.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Model cross-stock event propagation.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Regime-aware temporal encoding against distribution shift.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Rolling walk-forward validation as the default protocol.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06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Calibri"/>
              </a:rPr>
              <a:t>We do not claim solved stock prediction — we claim a clean formulation and an honest study of where structured news helps.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1109960" cy="23774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109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Q &amp; A   —   Thank you for listening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Calibri"/>
              </a:rPr>
              <a:t>CausalStock  ·  CS173 Data Mining Final  ·  Team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