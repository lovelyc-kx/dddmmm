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CS173  ·  DATA MINING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9D6E3"/>
                </a:solidFill>
                <a:latin typeface="Calibri"/>
              </a:rPr>
              <a:t>Event-Structured Temporal Causal Modeling for News-Driven Stock Prediction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Data-driven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3 EDA findings  →  3 new event attributes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Structured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20-class events, not one sentiment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Honest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stratified + chronological dual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Team 2     ·     CS173 Final Project     ·   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1325880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280160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Problem &amp;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682495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Calibri"/>
              </a:rPr>
              <a:t>Prior-method limits, the CausalStock baseline, our innovations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2295144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2249424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Data Analysis (EDA)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651760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Calibri"/>
              </a:rPr>
              <a:t>A four-part exploratory analysis that drives the event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3264408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3218688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Method — the Three Phases in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621024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Calibri"/>
              </a:rPr>
              <a:t>Phase 1 extraction · Phase 2 causal discovery · Phase 3 prediction — each covered in 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8795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Calibr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4233672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4187952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Experiments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590288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Calibri"/>
              </a:rPr>
              <a:t>Stratified vs chronological results, and an ablation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572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Calibri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5202936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5157216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Comparison &amp; Conclusion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559552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Calibri"/>
              </a:rPr>
              <a:t>A multi-axis comparison with the baseline,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What Prior Methods Get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Most news-driven models compress each article into one sentiment score. Three things break: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7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1.  Information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76856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 single sentiment score discards the event's type, magnitude, and affected entity.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965960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"Apple launches iPhone, outlook +20%" → sentiment +0.8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64408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64408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7413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2.  Lack of Causality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58184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Models capture surface correlation, not the logic between events, and cannot explain a prediction.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447288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Cannot tell a rate hike acting directly vs. via earnings.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745736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554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Calibri"/>
              </a:rPr>
              <a:t>3.  Ignoring Temporal Dynamics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39512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 news impact is treated as instantaneous — missing lag, diffusion, and gradual effects.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Calibri"/>
              </a:rPr>
              <a:t>A policy change may surface in prices only days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Baseline — CausalStock (NeurIPS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What the baseline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64208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64208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73936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Denoised news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21408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43748"/>
                </a:solidFill>
                <a:latin typeface="Calibri"/>
              </a:rPr>
              <a:t>An LLM compresses each article into one dense embedding vector.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64208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664208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73936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Stock-level causal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21408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43748"/>
                </a:solidFill>
                <a:latin typeface="Calibri"/>
              </a:rPr>
              <a:t>Lag-dependent causality is learned between individual stocks.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Two blind spots — and our response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310128"/>
          <a:ext cx="111099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32120"/>
                <a:gridCol w="55778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Baseline blind spot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CausalStock (ours) response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Calibri"/>
                        </a:rPr>
                        <a:t>One vector per article hides event type, magnitude, entity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A structured event: (S,A,O,M) + impact profile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Calibri"/>
                        </a:rPr>
                        <a:t>A stock-level graph cannot say what kind of event drove a link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Calibri"/>
                        </a:rPr>
                        <a:t>A causal graph over 20 event types, transferable across firms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48640" y="5257800"/>
            <a:ext cx="11109960" cy="868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22392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Takeaway: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the baseline is strong but structure-blind — we restore event structure and move causality to the event-type level.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What We Change — Three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Each prior-method problem maps to one design change: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109960" cy="2633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29200"/>
                <a:gridCol w="608076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Prior-method problem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CausalStock innovation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Calibri"/>
                        </a:rPr>
                        <a:t>Information loss (sentiment scalar)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Calibri"/>
                        </a:rPr>
                        <a:t>Structured event: (S, A, O, magnitude) + impact profile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Calibri"/>
                        </a:rPr>
                        <a:t>Lack of causality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Calibri"/>
                        </a:rPr>
                        <a:t>Lag-aware causal discovery over 20 event types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Calibri"/>
                        </a:rPr>
                        <a:t>Ignoring temporal dynamics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Calibri"/>
                        </a:rPr>
                        <a:t>A learned lag matrix T_lag and lag-gated attention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617720"/>
            <a:ext cx="11109960" cy="14630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7316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Two principles cut across all three: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38928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Data-driven — the event schema is earned from a measured EDA, not assumed.   Honest — every result is reported under both a stratified and a chronological split.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End-to-End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47" y="1325880"/>
            <a:ext cx="5029200" cy="26829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Three stages: extract structured events, learn lag-aware event-type structure, predict with a transparent tabular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 ANALYSIS 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Dataset Snapshot &amp; Field Completeness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10,901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structured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9,566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ticker-aligned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stocks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2010–23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time span</a:t>
            </a:r>
          </a:p>
        </p:txBody>
      </p:sp>
      <p:pic>
        <p:nvPicPr>
          <p:cNvPr id="20" name="Picture 19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3200400" cy="170657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371600"/>
            <a:ext cx="48463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51790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938528"/>
            <a:ext cx="44805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URL present 99.98%, Stock_symbol 67%, Author 32%, Publisher 21%.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Calibri"/>
              </a:rPr>
              <a:t>→ publisher / author too sparse to supervise on; credibility instead comes from the URL domain.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Duplicate-headline rows: 36,248 (~29%).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Calibri"/>
              </a:rPr>
              <a:t>→ the same event reported many times; motivates a novelty attribute.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Article length: median 3,724 / p90 6,949 / p99 29,925 chars.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 ANALYSIS 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Event-Clue Density — Why Event Extraction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ig_eda_c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3931920" cy="2122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11201400" cy="11430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88% of articles carry explicit price-movement language and 77% a numeric comparison — the corpus is not diffuse opinion but a stream of discrete, typable events. This is the empirical justification for structured event extraction over sentiment scoring.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 ANALYSIS 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Data Findings Drive the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33" y="2468880"/>
            <a:ext cx="6594628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Calibri"/>
              </a:rPr>
              <a:t>Three measured properties — 29% duplicates, 68–79% missing provenance, 89% multi-scope — each motivate one event attribute.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DATA ANALYSIS 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Event Stream — Distribution &amp; Attribute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fig_even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291840" cy="1548780"/>
          </a:xfrm>
          <a:prstGeom prst="rect">
            <a:avLst/>
          </a:prstGeom>
        </p:spPr>
      </p:pic>
      <p:pic>
        <p:nvPicPr>
          <p:cNvPr id="9" name="Picture 8" descr="fig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08760"/>
            <a:ext cx="3154680" cy="18151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4983480"/>
            <a:ext cx="11201400" cy="13716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Event types are long-tailed — the top three are 55% of all events, so training must be class-aware. Polarity / scope / novelty / credibility reach ~85% coverage and are used as standard attributes; surprise is sparse (6.6%), treated as a high-value indicator. A 50-sample audit: 84% type, 78% action, 91% polarity agreement.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 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1 — The Structured Event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Phase 1 turns each free-text article into ONE structured event record — a core quadruple plus a five-attribute impact profile.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5532120" cy="22860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EVENT CORE  —  (type, S, A, O, 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5120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type — one of a 20-class event ontology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subject (S) — the entity that acts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action (A) — the relation or verb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object (O) — the entity affected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magnitude (M) — signed numeric size of the move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27632"/>
            <a:ext cx="5440680" cy="22860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5564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20-CLASS ONTOLOGY  —  FOUR FAMILIES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57984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Macro — rate decisions, inflation, GDP, jobs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Corporate — earnings, M&amp;A, guidance, products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Knowledge — analyst ratings, research, forecasts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Geopolitics — regulation, sanctions, conflict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11109960" cy="21488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IMPACT PROFILE  —  5 ATTRIBUTES ATTACHED TO EVERY EVENT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D3A5F"/>
                </a:solidFill>
                <a:latin typeface="Calibri"/>
              </a:rPr>
              <a:t>polarity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Calibri"/>
              </a:rPr>
              <a:t>directional sign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D3A5F"/>
                </a:solidFill>
                <a:latin typeface="Calibri"/>
              </a:rPr>
              <a:t>surprise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39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Calibri"/>
              </a:rPr>
              <a:t>vs. expectation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Calibri"/>
              </a:rPr>
              <a:t>breadth of entities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novelty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Calibri"/>
              </a:rPr>
              <a:t>first report vs repeat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4572000"/>
            <a:ext cx="201168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credibility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50292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6B7785"/>
                </a:solidFill>
                <a:latin typeface="Calibri"/>
              </a:rPr>
              <a:t>source reliability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6509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Where used:  </a:t>
            </a:r>
            <a:r>
              <a:rPr sz="1000" b="0" i="0">
                <a:solidFill>
                  <a:srgbClr val="C9D6E3"/>
                </a:solidFill>
                <a:latin typeface="Calibri"/>
              </a:rPr>
              <a:t>scope · novelty · credibility are EDA-driven; the profile becomes Phase-3 event features and weights events in the Phase-2 causal aggregation.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 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1 — Extraction Model &amp; Weak Supervision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A FinBERT encoder with a multi-head decoder, trained on labels built by a four-step weak-supervision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5532120" cy="3246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MODEL  —  FinBERT + MULTI-HEAD DECODER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512064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Encoder — ProsusAI/finbert, pretrained on financial text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Head 1 — event-type classification (20-way softmax)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Head 2 — argument spans (subject / object token spans)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Head 3 — magnitude regression (signed scalar)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80" b="0" i="0">
                <a:solidFill>
                  <a:srgbClr val="243748"/>
                </a:solidFill>
                <a:latin typeface="Calibri"/>
              </a:rPr>
              <a:t>Heads share the encoder and are trained jointly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27632"/>
            <a:ext cx="5440680" cy="3246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5564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WEAK-SUPERVISION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157984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Calibri"/>
              </a:rPr>
              <a:t>1 — LLM silver label  (no gold labels at scale)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761488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8529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Calibri"/>
              </a:rPr>
              <a:t>2 — rule correction  (finance keyword / regex)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364991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456432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Calibri"/>
              </a:rPr>
              <a:t>3 — market grounding  (check M vs realized return)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968496"/>
            <a:ext cx="49834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59935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243748"/>
                </a:solidFill>
                <a:latin typeface="Calibri"/>
              </a:rPr>
              <a:t>4 — hallucination filter  →  accept event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10,901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structured 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5848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event types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5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84.8%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avg attribute coverage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0263" y="507492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0263" y="519379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84 / 78 / 91%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0263" y="56418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audit: type / action / polarity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 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2 — Lag-Aware Causal Discovery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Phase 2 learns the temporal causal structure between the 20 event types — what drives what, and after how long.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4937760" cy="420624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GOAL  —  TWO LEARNED MATRICES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57984"/>
            <a:ext cx="4480560" cy="114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67712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onsolas"/>
              </a:rPr>
              <a:t>A  ∈  (0,1)²⁰ˣ²⁰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15184"/>
            <a:ext cx="4114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6B7785"/>
                </a:solidFill>
                <a:latin typeface="Calibri"/>
              </a:rPr>
              <a:t>directed causal strength — A[i,j] = how strongly type i drives type j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83863"/>
            <a:ext cx="4480560" cy="114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93591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onsolas"/>
              </a:rPr>
              <a:t>T_lag  ∈  ℝ²⁰ˣ²⁰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3"/>
            <a:ext cx="4114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6B7785"/>
                </a:solidFill>
                <a:latin typeface="Calibri"/>
              </a:rPr>
              <a:t>expected lag in days between cause and effect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01183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60" b="0" i="1">
                <a:solidFill>
                  <a:srgbClr val="6B7785"/>
                </a:solidFill>
                <a:latin typeface="Calibri"/>
              </a:rPr>
              <a:t>Both matrices are learned end-to-end from the event stream.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627632"/>
            <a:ext cx="5943600" cy="42062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1755648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MECHANISM  —  STACD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157984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▪  Sparse temporal attention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32303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Calibri"/>
              </a:rPr>
              <a:t>attention over the event sequence, sparsified to keep real links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88036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▪  Time-direction mask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54679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Calibri"/>
              </a:rPr>
              <a:t>only the past attends to the future — no leakage backward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602736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▪  Lag-aware Gaussian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Calibri"/>
              </a:rPr>
              <a:t>peaks when the observed gap matches the learned T_lag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4325112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▪  Causal-strength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9432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Calibri"/>
              </a:rPr>
              <a:t>modulates each attention weight by the learned strength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047488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▪  NOTEARS-style regularizer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21807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0" i="0">
                <a:solidFill>
                  <a:srgbClr val="C9D6E3"/>
                </a:solidFill>
                <a:latin typeface="Calibri"/>
              </a:rPr>
              <a:t>an acyclicity penalty that keeps the graph a valid DAG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 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2 — Attention Modulation &amp; Interpretability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The three gates enter the attention score additively in log-space; the loss adds sparsity and an acyclicity penalty.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6492240" cy="3154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ATTENTION MODULATION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g_ij = exp( -(|t_i-t_j| - T_lag[k_j,k_i])^2 / 2σ^2 )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79776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s_ij' = s_ij + log m_ij + log g_ij + log A[k_j,k_i]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46704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α_ij = softmax_j ( s_ij'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913631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onsolas"/>
              </a:rPr>
              <a:t>L = L_pred + λ1·||A||1 + λ_DAG·h(A)^2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26280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60" b="0" i="1">
                <a:solidFill>
                  <a:srgbClr val="C9D6E3"/>
                </a:solidFill>
                <a:latin typeface="Calibri"/>
              </a:rPr>
              <a:t>k_j = event type of token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627632"/>
            <a:ext cx="4480560" cy="3154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755648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TERMS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157984"/>
            <a:ext cx="4160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Calibri"/>
              </a:rPr>
              <a:t>s_ij — raw attention score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Calibri"/>
              </a:rPr>
              <a:t>m_ij — time-direction mask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Calibri"/>
              </a:rPr>
              <a:t>g_ij — lag-aware Gaussian gate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Calibri"/>
              </a:rPr>
              <a:t>A — causal-strength matrix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019" b="0" i="0">
                <a:solidFill>
                  <a:srgbClr val="243748"/>
                </a:solidFill>
                <a:latin typeface="Calibri"/>
              </a:rPr>
              <a:t>h(A) — DAG acyclicity penalty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37760"/>
            <a:ext cx="11109960" cy="12801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65776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Why nodes are event types, not stocks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4132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 20-node event-type graph stays the same across companies and markets, so it is designed to support interpretable, transferable event-chain analysis — a stock-level graph is bound to a fixed company universe.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 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3 — Problem Setup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INPUTS  → 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32 recent news events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30-day OHLCV price window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Target stock identity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Calibri"/>
              </a:rPr>
              <a:t>Output: next-day direction, threshold ±0.5%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THREE-CLASS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Calibr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Calibr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Calibr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FLAT is the minority class — macro-F1 is emphasized.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9,566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ticker-aligned examples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0248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0248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stocks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Calibri"/>
              </a:rPr>
              <a:t>2010–2023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time span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 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3 — Feature Engineering (132-d)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1109960" cy="841248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4752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x = [ price ‖ event ‖ stock-ID ]   =   132-dimensional feature vector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77440"/>
            <a:ext cx="3502152" cy="31089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3502152" cy="4572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50592"/>
            <a:ext cx="3502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PRICE  ·  28-d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71800"/>
            <a:ext cx="3200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Multi-horizon returns — 1 / 5 / 10 / 20-day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Realized volatility &amp; ranges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Log-volume &amp; volume trend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OHLC ratios &amp; gaps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Short-term momentum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2377440"/>
            <a:ext cx="3502152" cy="31089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2544" y="2377440"/>
            <a:ext cx="3502152" cy="4572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2450592"/>
            <a:ext cx="3502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EVENT  ·  82-d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71800"/>
            <a:ext cx="3200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Per-type event counts (20-d)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Signed magnitude sums per family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Absolute magnitude sums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Impact-profile means — polarity, surprise, scope, novelty, credibility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Last-event type one-hot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2377440"/>
            <a:ext cx="3502152" cy="31089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6448" y="2377440"/>
            <a:ext cx="3502152" cy="4572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2450592"/>
            <a:ext cx="3502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STOCK-ID  ·  22-d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971800"/>
            <a:ext cx="3200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One-hot ticker identity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22 stocks in the universe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96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960" b="0" i="0">
                <a:solidFill>
                  <a:srgbClr val="243748"/>
                </a:solidFill>
                <a:latin typeface="Calibri"/>
              </a:rPr>
              <a:t>Lets the model learn ticker-specific volatility and reaction patterns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Every feature is an aggregate over the 32-event / 30-day window — strictly past information, no look-ahead.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 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Phase 3 — Model: HistGradientBoosting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The classifier over the 132-d vector is HistGradientBoosting (HGB) — a histogram-based gradient-boosted tree ensemble.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27632"/>
            <a:ext cx="5532120" cy="37033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WHY HGB OVER A NEURAL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5120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Heterogeneous features — counts, ratios, one-hots handled natively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Scale-invariant tree splits — minimal feature engineering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Strong, interpretable baseline — reads each source's contribution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Robust on a 9,566-example dataset — no large-data requirement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27632"/>
            <a:ext cx="5440680" cy="37033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5564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CONFIGURATION &amp;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57984"/>
            <a:ext cx="50292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max_iter 150 · learning_rate 0.04 · L2 0.05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Early stopping on a held-out validation loss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3-class softmax output — UP / DOWN / FLAT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macro-F1 as the headline metric (FLAT is the minority class)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C9D6E3"/>
                </a:solidFill>
                <a:latin typeface="Calibri"/>
              </a:rPr>
              <a:t>Evaluated under both stratified and chronological 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Key Result — Stratified vs Chronological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18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60520" cy="27872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TWO HONEST READINGS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Stratified random — macro-F1 0.693, accuracy 0.728. Well above the 0.43 majority and 0.33 random baselines: the features carry signal.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Chronological — macro-F1 0.337. Near random, consistent with semi-strong market efficiency: forward-time prediction is hard.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0" i="0">
                <a:solidFill>
                  <a:srgbClr val="1D3A5F"/>
                </a:solidFill>
                <a:latin typeface="Calibri"/>
              </a:rPr>
              <a:t>We report both — reporting only the stratified number would overstate real predictive power.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Ablation — Feature-Group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Calibri"/>
              </a:rPr>
              <a:t>Stratified-random macro-F1 for the combined-feature models: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554480" y="1783080"/>
          <a:ext cx="90525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852160"/>
                <a:gridCol w="1463040"/>
                <a:gridCol w="17373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Dim.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Calibri"/>
                        </a:rPr>
                        <a:t>Price + events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0.684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Calibri"/>
                        </a:rPr>
                        <a:t>Full:  price + events + stock ID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Calibri"/>
                        </a:rPr>
                        <a:t>0.693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3657600"/>
            <a:ext cx="11109960" cy="2103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Reading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Adding stock identity lifts macro-F1 from 0.684 to 0.693 — ticker-specific volatility and reaction patterns remain useful.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The combined representation is learnable under a stratified split — it is the configuration we report.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05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Comparison with the Baseline — Multi-Axis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01400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4206240"/>
                <a:gridCol w="4617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Axis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CausalStock (NeurIPS 2024)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Calibri"/>
                        </a:rPr>
                        <a:t>Causality level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Stock-level graph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Event-type graph (20×20)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Calibri"/>
                        </a:rPr>
                        <a:t>News representation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Dense denoised embedding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Structured event + impact profile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Calibri"/>
                        </a:rPr>
                        <a:t>Prediction task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Binary up / down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3-class with a ±0.5% FLAT zone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Calibri"/>
                        </a:rPr>
                        <a:t>Evaluation protocol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Mostly random split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Stratified + chronological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Calibri"/>
                        </a:rPr>
                        <a:t>Data scale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Larger, multi-dataset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Calibri"/>
                        </a:rPr>
                        <a:t>5% FNSPID subset, 22 stocks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12080"/>
            <a:ext cx="11201400" cy="9144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0096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Complementary, not competing — event-type causality transfers across companies and markets; stock-level causality is bound to a fixed company universe.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05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Comparison — An Interpretable Reading of 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Our setup is harder and stricter than the baseline's — the gap is explainable along four axes: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3852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78308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Calibri"/>
              </a:rPr>
              <a:t>We predict 3 classes with a ±0.5% FLAT dead zone; the baseline predicts binary up/down. FLAT is the hard minority class.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5176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9864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74320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Calibri"/>
              </a:rPr>
              <a:t>A 5% FNSPID subset over 22 stocks — far smaller; cross-stock relational signal is limited at this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0332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Calibri"/>
              </a:rPr>
              <a:t>Our directly comparable number is the chronological one; a random split mixes market regimes and inflates apparent performance.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1888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66344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Calibri"/>
              </a:rPr>
              <a:t>The baseline couples news with a price-derived causal backbone end-to-end; our evaluated layer is a transparent tabular model over aggregated event statistics — interpretable but lossier.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Calibri"/>
              </a:rPr>
              <a:t>We do not claim to beat the baseline — we contribute a transferable event-type formulation and a stricter, honest evaluation.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05  ·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WE CONTRIBUTE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 clearer event-structured problem formulation.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An EDA-driven event schema — attributes earned from measured data.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 mathematically specified lag-aware event-causal model.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An honest analysis separating information content from forward-time predictability.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71600"/>
            <a:ext cx="548640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Integrate A and T_lag directly as Phase-3 features.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Model cross-stock event propagation.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Regime-aware temporal encoding against distribution shift.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Rolling walk-forward validation as the default protocol.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Calibri"/>
              </a:rPr>
              <a:t>We do not claim solved stock prediction — we claim a clean formulation and an honest study of where structured news helps.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CausalStock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1109960" cy="23774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109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Q &amp; A   —   Thank you for listening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CausalStock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